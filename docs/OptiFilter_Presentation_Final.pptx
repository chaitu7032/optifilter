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 — Title):</a:t>
            </a:r>
          </a:p>
          <a:p>
            <a:r>
              <a:t>- Good morning, respected professor and examiners. Today I present OptiFilter / MorphoVision.</a:t>
            </a:r>
          </a:p>
          <a:p>
            <a:r>
              <a:t>- The objective of this project is to extract clinically significant retinal structures using strictly classical digital image processing algorithms.</a:t>
            </a:r>
          </a:p>
          <a:p>
            <a:r>
              <a:t>- As shown on the right, Track A isolates blood vessels via multiscale Hessian analysis, while Track B localizes the optic disc and cup via active contours and color space decomposition.</a:t>
            </a:r>
          </a:p>
          <a:p>
            <a:r>
              <a:t>- Everything runs on standard commodity CPUs without GPUs or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 — Project in One Minute):</a:t>
            </a:r>
          </a:p>
          <a:p>
            <a:r>
              <a:t>- What goes into the system? A fundus photograph.</a:t>
            </a:r>
          </a:p>
          <a:p>
            <a:r>
              <a:t>- What happens inside? It branches into Track A for blood vessels and Track B for the optic nerve head.</a:t>
            </a:r>
          </a:p>
          <a:p>
            <a:r>
              <a:t>- What comes out? Calibrated segmentation masks, vessel density, vCDR, and complete confusion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3 — Background &amp; Motivation):</a:t>
            </a:r>
          </a:p>
          <a:p>
            <a:r>
              <a:t>- The image on the right illustrates the optic nerve head from Drishti-GS.</a:t>
            </a:r>
          </a:p>
          <a:p>
            <a:r>
              <a:t>- The outer contour marks the optic disc; the inner contour marks the optic cup.</a:t>
            </a:r>
          </a:p>
          <a:p>
            <a:r>
              <a:t>- Glaucoma causes the cup to expand, which is why accurate geometric extraction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4 — Problem Statement):</a:t>
            </a:r>
          </a:p>
          <a:p>
            <a:r>
              <a:t>- Show the real diagnostic case on the right: peripapillary atrophy (PPA) creates a bright halo around the disc.</a:t>
            </a:r>
          </a:p>
          <a:p>
            <a:r>
              <a:t>- Explain why simple edge detection fails: standard Sobel filters snap onto the PPA outer boundary instead of the true neuroretinal 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5 — Objectives, Scope &amp; Contributions):</a:t>
            </a:r>
          </a:p>
          <a:p>
            <a:r>
              <a:t>- State clearly that all 7 items are fully built, tested, and integrated in the repository.</a:t>
            </a:r>
          </a:p>
          <a:p>
            <a:r>
              <a:t>- This is completed engineering work with verified empirical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6 — Why Classical DIP?):</a:t>
            </a:r>
          </a:p>
          <a:p>
            <a:r>
              <a:t>- Explain that classical DIP gives complete mathematical interpretability, zero hardware cost, and sub-second execution on low-power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7 — System Architecture):</a:t>
            </a:r>
          </a:p>
          <a:p>
            <a:r>
              <a:t>- Trace the architecture from left to right: image input -&gt; FOV engine -&gt; dual-track routing -&gt; mask post-processing -&gt; evaluation engine -&gt;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8 — Datasets &amp; Ground Truth):</a:t>
            </a:r>
          </a:p>
          <a:p>
            <a:r>
              <a:t>- Highlight scientific disclosure: We report accuracy on images with authentic expert annotations, avoiding fake test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9 — Track A Complete Workflow):</a:t>
            </a:r>
          </a:p>
          <a:p>
            <a:r>
              <a:t>- Here is the exact 6-stage visual pipeline executed by OptiFilter on DRIVE image 23:</a:t>
            </a:r>
          </a:p>
          <a:p>
            <a:r>
              <a:t>  1. Original Fundus: 565x584 px monocular photograph.</a:t>
            </a:r>
          </a:p>
          <a:p>
            <a:r>
              <a:t>  2. Green Channel: Peak optical absorption of hemoglobin.</a:t>
            </a:r>
          </a:p>
          <a:p>
            <a:r>
              <a:t>  3. CLAHE Enhanced: Local contrast normalization on 8x8 tiles.</a:t>
            </a:r>
          </a:p>
          <a:p>
            <a:r>
              <a:t>  4. Frangi Hessian: Multiscale tubular ridge enhancement across 4 Gaussian scales.</a:t>
            </a:r>
          </a:p>
          <a:p>
            <a:r>
              <a:t>  5. Vessel Mask: Dual-percentile hysteresis binarization.</a:t>
            </a:r>
          </a:p>
          <a:p>
            <a:r>
              <a:t>  6. Segmented Overlay: Complete vascular tree overlay with 18.25% vessel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10 — Track A Preprocessing Concepts):</a:t>
            </a:r>
          </a:p>
          <a:p>
            <a:r>
              <a:t>- Explain why green channel gives peak vessel contrast and how CLAHE's clip limit prevents noise explosion.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11 — Frangi Vesselness &amp; Hysteresis):</a:t>
            </a:r>
          </a:p>
          <a:p>
            <a:r>
              <a:t>- Explain eigenvalues: lambda-1 is flat along the vessel, lambda-2 is steep across the vessel.</a:t>
            </a:r>
          </a:p>
          <a:p>
            <a:r>
              <a:t>- Explain hysteresis: High threshold seeds the core, low threshold traces connected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12 — Track B Anatomy &amp; vCDR):</a:t>
            </a:r>
          </a:p>
          <a:p>
            <a:r>
              <a:t>- Explain the ISNT rule and why vertical diameter is the standard clinical biomarker.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13 — Track B Complete Workflow):</a:t>
            </a:r>
          </a:p>
          <a:p>
            <a:r>
              <a:t>- Here is the exact 5-stage visual pipeline for Track B from Drishti-GS test image 006:</a:t>
            </a:r>
          </a:p>
          <a:p>
            <a:r>
              <a:t>  1. Original Fundus: High-resolution image of the optic nerve head.</a:t>
            </a:r>
          </a:p>
          <a:p>
            <a:r>
              <a:t>  2. Luminance Smooth: Morphological closing in the red channel fills blood vessels and creates a smooth centroid.</a:t>
            </a:r>
          </a:p>
          <a:p>
            <a:r>
              <a:t>  3. Disc Mask: An active contour snake iteratively minimizes energy to find the true outer disc margin.</a:t>
            </a:r>
          </a:p>
          <a:p>
            <a:r>
              <a:t>  4. Cup Mask: Inverted CIELAB a* channel extracts the pale cup and enforces strict containment inside the disc.</a:t>
            </a:r>
          </a:p>
          <a:p>
            <a:r>
              <a:t>  5. Disc &amp; Cup Overlay: Dual color-coded contours yield a calibrated vertical Cup-to-Disc Ratio of 0.6847.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14 — Track B Core Concepts):</a:t>
            </a:r>
          </a:p>
          <a:p>
            <a:r>
              <a:t>- Explain why morphological closing fills vessels without distorting outer edges, and why CIELAB a* provides superior chromatic separation for the cup.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15 — vCDR Measurement &amp; Interpretation):</a:t>
            </a:r>
          </a:p>
          <a:p>
            <a:r>
              <a:t>- Walk through the worked numerical example and explain our non-diagnostic ethical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16 — Evaluation Methodology):</a:t>
            </a:r>
          </a:p>
          <a:p>
            <a:r>
              <a:t>- Explain why Pixel Accuracy is misleading in imbalanced retinal images and why Dice/Sensitivity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17 — Scientific Fairness &amp; Protocol):</a:t>
            </a:r>
          </a:p>
          <a:p>
            <a:r>
              <a:t>- Highlight how we avoided data leakage by calibrating strictly on dev data and evaluating held-out sets under frozen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18 — Track A Results):</a:t>
            </a:r>
          </a:p>
          <a:p>
            <a:r>
              <a:t>- Point to the 4 real segmented fundus overlays on the right:</a:t>
            </a:r>
          </a:p>
          <a:p>
            <a:r>
              <a:t>  - DRIVE 21 and 24 from the development split.</a:t>
            </a:r>
          </a:p>
          <a:p>
            <a:r>
              <a:t>  - DRIVE 36 and 38 from the held-out test split, reaching over 0.70 to 0.72 Dice.</a:t>
            </a:r>
          </a:p>
          <a:p>
            <a:r>
              <a:t>- Notice the crisp preservation of both major arcade trunks and fine peripheral vessels.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19 — Track B Results &amp; Failure Analysis):</a:t>
            </a:r>
          </a:p>
          <a:p>
            <a:r>
              <a:t>- The upper images show successful high-accuracy segmentation (Drishti 012 with vCDR error of only 0.0025).</a:t>
            </a:r>
          </a:p>
          <a:p>
            <a:r>
              <a:t>- The lower images show our diagnostic failure overlays: in shallow cups, the 2D thresholding detects the pale floor rather than the 3D sloping rim.</a:t>
            </a:r>
          </a:p>
          <a:p>
            <a:r>
              <a:t>- Discussing these edge cases proves you understand ophthalmic anatomy and computer vision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20 — Runtime &amp; Computational Latency Profiling):</a:t>
            </a:r>
          </a:p>
          <a:p>
            <a:r>
              <a:t>- Explain latency breakdown: 79% of compute is spent on the 4 Gaussian Hessian derivative convolutions. The rest is lightweight.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21 — Application Workstation Demo):</a:t>
            </a:r>
          </a:p>
          <a:p>
            <a:r>
              <a:t>- Present the dual-mode interface:</a:t>
            </a:r>
          </a:p>
          <a:p>
            <a:r>
              <a:t>  - Student Mode provides a guided stepper and interactive filmstrip.</a:t>
            </a:r>
          </a:p>
          <a:p>
            <a:r>
              <a:t>  - Clinic Mode provides dense confusion matrix metrics and CSV exports.</a:t>
            </a:r>
          </a:p>
          <a:p>
            <a:r>
              <a:t>- Offer to switch directly into the live browser tab to demo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22 — Research Summary, Limitations &amp; Ethics):</a:t>
            </a:r>
          </a:p>
          <a:p>
            <a:r>
              <a:t>- Group your takeaways into: What is verified, what are the physical boundaries, and what are the ethical non-diagnostic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23 — Conclusion &amp; Future Work):</a:t>
            </a:r>
          </a:p>
          <a:p>
            <a:r>
              <a:t>- Summarize the achievement and outline future work: multi-resolution pyramids, shape-from-shading for 3D depth, and WebAssembly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24 — References &amp; Q&amp;A):</a:t>
            </a:r>
          </a:p>
          <a:p>
            <a:r>
              <a:t>- Conclude by thanking the professors and examiners and inviting technical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OptiFilter / MorphoVision</a:t>
            </a:r>
          </a:p>
          <a:p>
            <a:pPr>
              <a:spcBef>
                <a:spcPts val="800"/>
              </a:spcBef>
              <a:defRPr sz="1800">
                <a:solidFill>
                  <a:srgbClr val="64FFDA"/>
                </a:solidFill>
              </a:defRPr>
            </a:pPr>
            <a:r>
              <a:t>Classical Digital Image Processing for Retinal Vessel, Optic Disc &amp; Cup Analysis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Zero-ML, CPU-Centric Framework for Interpretable Biomarker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6858000" cy="2926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REVIEW &amp; SYSTEM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Candidate / Department: </a:t>
            </a:r>
            <a:r>
              <a:rPr b="0">
                <a:solidFill>
                  <a:srgbClr val="F8FAFC"/>
                </a:solidFill>
              </a:rPr>
              <a:t>Dept. of Computer Science &amp; Engineering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Project Category: </a:t>
            </a:r>
            <a:r>
              <a:rPr b="0">
                <a:solidFill>
                  <a:srgbClr val="F8FAFC"/>
                </a:solidFill>
              </a:rPr>
              <a:t>Digital Image Processing / Biomedical Vision / Edge Systems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Core Restriction: </a:t>
            </a:r>
            <a:r>
              <a:rPr b="0">
                <a:solidFill>
                  <a:srgbClr val="F8FAFC"/>
                </a:solidFill>
              </a:rPr>
              <a:t>100% Classical DIP — Zero Neural Networks, Zero Deep Learning, Zero ML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Profile: </a:t>
            </a:r>
            <a:r>
              <a:rPr b="0">
                <a:solidFill>
                  <a:srgbClr val="F8FAFC"/>
                </a:solidFill>
              </a:rPr>
              <a:t>Commodity CPU Execution (sub-second latency, zero GPU requirements)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Active Subsystems: </a:t>
            </a:r>
            <a:r>
              <a:rPr b="0">
                <a:solidFill>
                  <a:srgbClr val="F8FAFC"/>
                </a:solidFill>
              </a:rPr>
              <a:t>Track A (Vascular Tree) &amp; Track B (Optic Disc, Cup &amp; Vertical CDR)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005840"/>
            <a:ext cx="3657600" cy="52120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1115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SEGMENTATION OUTPUTS</a:t>
            </a:r>
          </a:p>
        </p:txBody>
      </p:sp>
      <p:pic>
        <p:nvPicPr>
          <p:cNvPr id="9" name="Picture 8" descr="track_a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554480"/>
            <a:ext cx="329184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794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A: Retinal Vasculature (DRIVE 23)</a:t>
            </a:r>
          </a:p>
        </p:txBody>
      </p:sp>
      <p:pic>
        <p:nvPicPr>
          <p:cNvPr id="11" name="Picture 10" descr="disc_cup_overlay_drishtiGS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023360"/>
            <a:ext cx="329184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B: Optic Disc &amp; Cup Contours (Drishti-GS)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Project in One Minute: Overview &amp; Dual-Track Paradigm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INPUT &amp;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Input: </a:t>
            </a:r>
            <a:r>
              <a:rPr b="0">
                <a:solidFill>
                  <a:srgbClr val="F8FAFC"/>
                </a:solidFill>
              </a:rPr>
              <a:t>Color fundus photographs from DRIVE and Drishti-GS or clinical upload.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Anatomical Targets: </a:t>
            </a:r>
            <a:r>
              <a:rPr b="0">
                <a:solidFill>
                  <a:srgbClr val="F8FAFC"/>
                </a:solidFill>
              </a:rPr>
              <a:t>Vessel tree, optic disc boundary, and optic cup excavation.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Key Obstacles: </a:t>
            </a:r>
            <a:r>
              <a:rPr b="0">
                <a:solidFill>
                  <a:srgbClr val="F8FAFC"/>
                </a:solidFill>
              </a:rPr>
              <a:t>Uneven lighting, low capillary contrast, specular reflection, ambiguous cup pallor.</a:t>
            </a:r>
          </a:p>
        </p:txBody>
      </p:sp>
      <p:pic>
        <p:nvPicPr>
          <p:cNvPr id="8" name="Picture 7" descr="track_a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023360"/>
            <a:ext cx="256032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080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Original Fundus Photograph (565x584 px)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PROCESSING ENGINE (PURE DIP)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 (Vessels): </a:t>
            </a:r>
            <a:r>
              <a:rPr b="0">
                <a:solidFill>
                  <a:srgbClr val="F8FAFC"/>
                </a:solidFill>
              </a:rPr>
              <a:t>Green channel -&gt; CLAHE -&gt; Multiscale Frangi Hessian filtering -&gt; Dual-percentile hysteresis.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 (Disc/Cup): </a:t>
            </a:r>
            <a:r>
              <a:rPr b="0">
                <a:solidFill>
                  <a:srgbClr val="F8FAFC"/>
                </a:solidFill>
              </a:rPr>
              <a:t>Morphological closing in red channel -&gt; Active contour snakes -&gt; CIELAB a* cup extraction -&gt; Strict containment.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CPU Latency: </a:t>
            </a:r>
            <a:r>
              <a:rPr b="0">
                <a:solidFill>
                  <a:srgbClr val="F8FAFC"/>
                </a:solidFill>
              </a:rPr>
              <a:t>Sub-second execution (450-550 ms) on laptop CPU.</a:t>
            </a:r>
          </a:p>
        </p:txBody>
      </p:sp>
      <p:pic>
        <p:nvPicPr>
          <p:cNvPr id="13" name="Picture 12" descr="track_a_frangi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023360"/>
            <a:ext cx="265176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0" y="6080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Multiscale Frangi Vesselness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OUTPUTS &amp;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Quantitative Biomarkers: </a:t>
            </a:r>
            <a:r>
              <a:rPr b="0">
                <a:solidFill>
                  <a:srgbClr val="F8FAFC"/>
                </a:solidFill>
              </a:rPr>
              <a:t>Vessel density (%) and vertical Cup-to-Disc Ratio (vCDR).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Honest Evaluation: </a:t>
            </a:r>
            <a:r>
              <a:rPr b="0">
                <a:solidFill>
                  <a:srgbClr val="F8FAFC"/>
                </a:solidFill>
              </a:rPr>
              <a:t>Strict circular Field of View (FOV) masking; metrics withheld if ground truth is absent.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Dual Workstation UI: </a:t>
            </a:r>
            <a:r>
              <a:rPr b="0">
                <a:solidFill>
                  <a:srgbClr val="F8FAFC"/>
                </a:solidFill>
              </a:rPr>
              <a:t>Student Mode for walkthroughs; Clinic Mode for deep audit metrics.</a:t>
            </a:r>
          </a:p>
        </p:txBody>
      </p:sp>
      <p:pic>
        <p:nvPicPr>
          <p:cNvPr id="18" name="Picture 17" descr="track_a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023360"/>
            <a:ext cx="256032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3920" y="6080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Final Segmented Vascular Overlay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Background &amp; Motivation: Retinal Anatomy &amp; Biomarkers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ANATOMICAL STRUCTURES OF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Retinal Fundus Image: </a:t>
            </a:r>
            <a:r>
              <a:rPr b="0">
                <a:solidFill>
                  <a:srgbClr val="F8FAFC"/>
                </a:solidFill>
              </a:rPr>
              <a:t>A photograph capturing the posterior eye, illuminating the retina, vessels, and optic nerve head.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Retinal Vessels: </a:t>
            </a:r>
            <a:r>
              <a:rPr b="0">
                <a:solidFill>
                  <a:srgbClr val="F8FAFC"/>
                </a:solidFill>
              </a:rPr>
              <a:t>The microvascular tree supplying retinal neurons. Vessel caliber thinning and density reduction serve as early indicators for hypertension, diabetes, and stroke.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(ONH): </a:t>
            </a:r>
            <a:r>
              <a:rPr b="0">
                <a:solidFill>
                  <a:srgbClr val="F8FAFC"/>
                </a:solidFill>
              </a:rPr>
              <a:t>The circular anatomical boundary where ~1.2 million nerve fibers converge to form the optic nerve exiting to the visual cortex.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Cup: </a:t>
            </a:r>
            <a:r>
              <a:rPr b="0">
                <a:solidFill>
                  <a:srgbClr val="F8FAFC"/>
                </a:solidFill>
              </a:rPr>
              <a:t>The central pale depression inside the disc. In glaucoma, elevated intraocular pressure causes axonal loss, enlarging this cup excavation.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FUNDUS LANDMARKS &amp; FEATURES</a:t>
            </a:r>
          </a:p>
        </p:txBody>
      </p:sp>
      <p:pic>
        <p:nvPicPr>
          <p:cNvPr id="10" name="Picture 9" descr="disc_cup_overlay_drishtiGS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38912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5074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Optic Disc &amp; Cup Boundaries in Drishti-GS Fundus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Significance: </a:t>
            </a:r>
            <a:r>
              <a:rPr b="0">
                <a:solidFill>
                  <a:srgbClr val="F8FAFC"/>
                </a:solidFill>
              </a:rPr>
              <a:t>The retina is the only place in the body where neural and microvascular circulation can be inspected directly and non-invasively.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Statement: Key Technical &amp; Classical Vision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IMAGE ACQUISITION &amp; OPTICAL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Illumination Non-Uniformity: </a:t>
            </a:r>
            <a:r>
              <a:rPr b="0">
                <a:solidFill>
                  <a:srgbClr val="F8FAFC"/>
                </a:solidFill>
              </a:rPr>
              <a:t>Vignetting and ocular curvature cause dark peripheries and over-exposed macula/disc regions.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Capillary Contrast Paucity: </a:t>
            </a:r>
            <a:r>
              <a:rPr b="0">
                <a:solidFill>
                  <a:srgbClr val="F8FAFC"/>
                </a:solidFill>
              </a:rPr>
              <a:t>High-order capillaries have widths &lt; 1.5 pixels and contrast of only 4-8 gray levels above background noise.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Central Light Reflex: </a:t>
            </a:r>
            <a:r>
              <a:rPr b="0">
                <a:solidFill>
                  <a:srgbClr val="F8FAFC"/>
                </a:solidFill>
              </a:rPr>
              <a:t>Arterioles exhibit a bright longitudinal reflection along their center, causing naive gradient filters to detect false split double-lines.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Peripapillary Atrophy (PPA): </a:t>
            </a:r>
            <a:r>
              <a:rPr b="0">
                <a:solidFill>
                  <a:srgbClr val="F8FAFC"/>
                </a:solidFill>
              </a:rPr>
              <a:t>Myopic eyes exhibit bright scleral crescents adjacent to the disc that confuse standard boundary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81328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VISUALIZING OPTICAL ARTIFACTS</a:t>
            </a:r>
          </a:p>
        </p:txBody>
      </p:sp>
      <p:pic>
        <p:nvPicPr>
          <p:cNvPr id="10" name="Picture 9" descr="diagnostic_overlay_drishtiGS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4754880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Challenging Peripapillary Atrophy &amp; Illumination Falloff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Algorithmic Requirement: </a:t>
            </a:r>
            <a:r>
              <a:rPr b="0">
                <a:solidFill>
                  <a:srgbClr val="F8FAFC"/>
                </a:solidFill>
              </a:rPr>
              <a:t>A robust DIP system must distinguish true anatomical boundaries from bright pathological crescents and light reflexes.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Objectives, Scope &amp; Tangible Project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RESEARCH OBJECTIVES VS COMPLETED IMPLEMENTED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Track A Vascular Pipeline: </a:t>
            </a:r>
            <a:r>
              <a:rPr b="0">
                <a:solidFill>
                  <a:srgbClr val="F8FAFC"/>
                </a:solidFill>
              </a:rPr>
              <a:t>Designed and implemented a deterministic pipeline combining green-channel extraction, CLAHE, multiscale Hessian Frangi filtering (4 scales), and dual-percentile hysteresis.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Track B ONH &amp; Cup Pipeline: </a:t>
            </a:r>
            <a:r>
              <a:rPr b="0">
                <a:solidFill>
                  <a:srgbClr val="F8FAFC"/>
                </a:solidFill>
              </a:rPr>
              <a:t>Implemented resolution-adaptive morphological closing, Gaussian spatial smoothing, active contour energy minimization (snakes), and CIELAB color space partitioning.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Strict Anatomical Containment: </a:t>
            </a:r>
            <a:r>
              <a:rPr b="0">
                <a:solidFill>
                  <a:srgbClr val="F8FAFC"/>
                </a:solidFill>
              </a:rPr>
              <a:t>Formulated and enforced mathematical projection ensuring Cup is strictly a subset of Disc (Cup ⊆ Disc), eliminating impossible physiological geometries.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Objective Metric Extraction: </a:t>
            </a:r>
            <a:r>
              <a:rPr b="0">
                <a:solidFill>
                  <a:srgbClr val="F8FAFC"/>
                </a:solidFill>
              </a:rPr>
              <a:t>Automated extraction of vertical Cup-to-Disc Ratio (vCDR) and mask-derived retinal vascular density (%).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Scientific Evaluation Protocol: </a:t>
            </a:r>
            <a:r>
              <a:rPr b="0">
                <a:solidFill>
                  <a:srgbClr val="F8FAFC"/>
                </a:solidFill>
              </a:rPr>
              <a:t>Established fixed Development vs Held-Out splits on DRIVE (N=20) and Drishti-GS (N=50), strictly evaluating within the valid circular Field of View (FOV).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6. Controlled Ablation Studies: </a:t>
            </a:r>
            <a:r>
              <a:rPr b="0">
                <a:solidFill>
                  <a:srgbClr val="F8FAFC"/>
                </a:solidFill>
              </a:rPr>
              <a:t>Conducted isolated one-variable-at-a-time experiments to scientifically prove the empirical value of CLAHE, multiscale fusion, and color spaces.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7. Dual-Mode Workstation UI: </a:t>
            </a:r>
            <a:r>
              <a:rPr b="0">
                <a:solidFill>
                  <a:srgbClr val="F8FAFC"/>
                </a:solidFill>
              </a:rPr>
              <a:t>Engineered an award-winning web workstation featuring Student Mode (guided visual walkthrough) and Clinic Mode (deep diagnostic telemetry &amp; confusion matrices).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Why Classical Digital Image Processing? (DIP vs ML vs 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CLASSICAL DIP (OPTIFILTER)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Explicit mathematical equations, calculus of variations, differential geometry, and morphological set theory.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Determinism: </a:t>
            </a:r>
            <a:r>
              <a:rPr b="0">
                <a:solidFill>
                  <a:srgbClr val="F8FAFC"/>
                </a:solidFill>
              </a:rPr>
              <a:t>100% deterministic. Identical pixels always yield identical outputs. No random weight initializations.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Compute Requirements: </a:t>
            </a:r>
            <a:r>
              <a:rPr b="0">
                <a:solidFill>
                  <a:srgbClr val="F8FAFC"/>
                </a:solidFill>
              </a:rPr>
              <a:t>Single-core or multi-core CPU. Minimal memory footprint (&lt;250 MB). Zero GPU requirement.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Failure Inspectability: </a:t>
            </a:r>
            <a:r>
              <a:rPr b="0">
                <a:solidFill>
                  <a:srgbClr val="F8FAFC"/>
                </a:solidFill>
              </a:rPr>
              <a:t>Failures can be mathematically traced to low contrast, gradient breakdown, or threshold percentiles.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MACHINE LEARNING (RF / SVM)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Manual feature engineering (Gabor, GLCM) followed by statistical classifiers.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Data Dependence: </a:t>
            </a:r>
            <a:r>
              <a:rPr b="0">
                <a:solidFill>
                  <a:srgbClr val="F8FAFC"/>
                </a:solidFill>
              </a:rPr>
              <a:t>Requires hundreds of labeled patches. Vulnerable to class imbalance between vessel and non-vessel pixels.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Generalization: </a:t>
            </a:r>
            <a:r>
              <a:rPr b="0">
                <a:solidFill>
                  <a:srgbClr val="F8FAFC"/>
                </a:solidFill>
              </a:rPr>
              <a:t>Suffers significant drop in performance across different retinal camera brands.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Training Overhead: </a:t>
            </a:r>
            <a:r>
              <a:rPr b="0">
                <a:solidFill>
                  <a:srgbClr val="F8FAFC"/>
                </a:solidFill>
              </a:rPr>
              <a:t>Requires complex feature caching and iterative model 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DEEP LEARNING (U-NET / VIT)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End-to-end representation learning with millions of non-interpretable parameter weights.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Burden: </a:t>
            </a:r>
            <a:r>
              <a:rPr b="0">
                <a:solidFill>
                  <a:srgbClr val="F8FAFC"/>
                </a:solidFill>
              </a:rPr>
              <a:t>High-end dedicated GPUs with gigabytes of VRAM. High electrical power consumption.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Black-Box Nature: </a:t>
            </a:r>
            <a:r>
              <a:rPr b="0">
                <a:solidFill>
                  <a:srgbClr val="F8FAFC"/>
                </a:solidFill>
              </a:rPr>
              <a:t>Cannot verify internal representations. Vulnerable to adversarial perturbations and hallucinations.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Data Greed: </a:t>
            </a:r>
            <a:r>
              <a:rPr b="0">
                <a:solidFill>
                  <a:srgbClr val="F8FAFC"/>
                </a:solidFill>
              </a:rPr>
              <a:t>Demands thousands of densely annotated expert segmentations.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System Architecture: End-to-End Processing &amp; Dual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MODULAR ARCHITECTURAL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Input Subsystem: </a:t>
            </a:r>
            <a:r>
              <a:rPr b="0">
                <a:solidFill>
                  <a:srgbClr val="F8FAFC"/>
                </a:solidFill>
              </a:rPr>
              <a:t>Accepts monocular RGB fundus photographs via manual upload (PNG/JPG/TIF) or automated dataset loaders (DRIVE &amp; Drishti-GS manifests).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Validation &amp; FOV Engine: </a:t>
            </a:r>
            <a:r>
              <a:rPr b="0">
                <a:solidFill>
                  <a:srgbClr val="F8FAFC"/>
                </a:solidFill>
              </a:rPr>
              <a:t>Validates dimensions, normalizes bit depth, and synthesizes/validates circular Field-of-View (FOV) masks via adaptive thresholding and morphological closing.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 Pipeline (Vessels): </a:t>
            </a:r>
            <a:r>
              <a:rPr b="0">
                <a:solidFill>
                  <a:srgbClr val="F8FAFC"/>
                </a:solidFill>
              </a:rPr>
              <a:t>Green-Channel Extraction -&gt; CLAHE (8x8 tiles, clip=2.0) -&gt; Multiscale Hessian Eigenanalysis (Frangi σ ∈ {1.0, 1.5, 2.0, 3.0}) -&gt; Percentile Dual Hysteresis (τ_L=75%, τ_H=92%) -&gt; Area Opening (&lt;25 px).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 Pipeline (Disc &amp; Cup): </a:t>
            </a:r>
            <a:r>
              <a:rPr b="0">
                <a:solidFill>
                  <a:srgbClr val="F8FAFC"/>
                </a:solidFill>
              </a:rPr>
              <a:t>Red-Channel Refinement -&gt; Morphological Closing -&gt; Gaussian Smoothing -&gt; Centroid Localization -&gt; Active Contour (Snake) -&gt; CIELAB a* Cup Extraction -&gt; Strict Containment -&gt; vCDR.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Evaluation Engine: </a:t>
            </a:r>
            <a:r>
              <a:rPr b="0">
                <a:solidFill>
                  <a:srgbClr val="F8FAFC"/>
                </a:solidFill>
              </a:rPr>
              <a:t>Computes spatial overlap (Dice, IoU), sensitivity, specificity, and confusion matrix against ground-truth annotations strictly within FOV.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Presentation &amp; Workstation Layer: </a:t>
            </a:r>
            <a:r>
              <a:rPr b="0">
                <a:solidFill>
                  <a:srgbClr val="F8FAFC"/>
                </a:solidFill>
              </a:rPr>
              <a:t>React 19 + TypeScript + Vite frontend communicating via RESTful FastAPI backend with dual-mode visualization (Student vs Clinic Mode).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Datasets &amp; Ground Truth: DRIVE &amp; Drishti-GS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DRIVE DATASET (VESSEL SEGMENTATION)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Images &amp; Resolution: </a:t>
            </a:r>
            <a:r>
              <a:rPr b="0">
                <a:solidFill>
                  <a:srgbClr val="F8FAFC"/>
                </a:solidFill>
              </a:rPr>
              <a:t>40 fundus images (565 x 584 pixels, 8-bit RGB), captured using a Canon CR5 non-mydriatic 3CCD camera (45° FOV).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Ground Truth Annotations: </a:t>
            </a:r>
            <a:r>
              <a:rPr b="0">
                <a:solidFill>
                  <a:srgbClr val="F8FAFC"/>
                </a:solidFill>
              </a:rPr>
              <a:t>Manual segmentations of the entire retinal vascular tree performed by two independent ophthalmology experts.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Local Repository Protocol: </a:t>
            </a:r>
            <a:r>
              <a:rPr b="0">
                <a:solidFill>
                  <a:srgbClr val="F8FAFC"/>
                </a:solidFill>
              </a:rPr>
              <a:t>20 training images split under Seed 42 into 15 Development cases (calibrating thresholds) and 5 Held-Out cases (testing).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Critical Fact on DRIVE Test Set: </a:t>
            </a:r>
            <a:r>
              <a:rPr b="0">
                <a:solidFill>
                  <a:srgbClr val="F8FAFC"/>
                </a:solidFill>
              </a:rPr>
              <a:t>The official 20 DRIVE test images locally contain FOV masks but lack manual 1st_manual reference masks. Thus, our quantitative accuracy is reported strictly on the annotated set!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DRISHTI-GS DATASET (OPTIC DISC &amp; CUP)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Images &amp; Resolution: </a:t>
            </a:r>
            <a:r>
              <a:rPr b="0">
                <a:solidFill>
                  <a:srgbClr val="F8FAFC"/>
                </a:solidFill>
              </a:rPr>
              <a:t>101 high-resolution images (~1752 x 2045 pixels) acquired at Aravind Eye Hospital, dedicated to glaucoma assessment.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Ground Truth Annotations: </a:t>
            </a:r>
            <a:r>
              <a:rPr b="0">
                <a:solidFill>
                  <a:srgbClr val="F8FAFC"/>
                </a:solidFill>
              </a:rPr>
              <a:t>Multi-expert boundary ground truth provided as SoftMap probability contours by four expert ophthalmologists.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Consensus Rule: </a:t>
            </a:r>
            <a:r>
              <a:rPr b="0">
                <a:solidFill>
                  <a:srgbClr val="F8FAFC"/>
                </a:solidFill>
              </a:rPr>
              <a:t>Gold-standard disc and cup binary masks generated via majority vote (probability ≥ 0.50, intensity ≥ 128).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Split Partitioning: </a:t>
            </a:r>
            <a:r>
              <a:rPr b="0">
                <a:solidFill>
                  <a:srgbClr val="F8FAFC"/>
                </a:solidFill>
              </a:rPr>
              <a:t>50 annotated training images partitioned into 35 Development cases and 15 Held-Out validation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Complete Retinal Vessel Workflow &amp; Visual Filmstrip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FUNDUS</a:t>
            </a:r>
          </a:p>
        </p:txBody>
      </p:sp>
      <p:pic>
        <p:nvPicPr>
          <p:cNvPr id="7" name="Picture 6" descr="track_a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50876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Input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Capture: </a:t>
            </a:r>
            <a:r>
              <a:rPr b="0">
                <a:solidFill>
                  <a:srgbClr val="F8FAFC"/>
                </a:solidFill>
              </a:rPr>
              <a:t>565x584 px.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Physics: </a:t>
            </a:r>
            <a:r>
              <a:rPr b="0">
                <a:solidFill>
                  <a:srgbClr val="F8FAFC"/>
                </a:solidFill>
              </a:rPr>
              <a:t>Monocular 45° optical aperture.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GREEN</a:t>
            </a:r>
          </a:p>
        </p:txBody>
      </p:sp>
      <p:pic>
        <p:nvPicPr>
          <p:cNvPr id="12" name="Picture 11" descr="track_a_green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1828800"/>
            <a:ext cx="1508760" cy="1645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4328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Hb Absorption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Band: </a:t>
            </a:r>
            <a:r>
              <a:rPr b="0">
                <a:solidFill>
                  <a:srgbClr val="F8FAFC"/>
                </a:solidFill>
              </a:rPr>
              <a:t>540-570 nm.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Physics: </a:t>
            </a:r>
            <a:r>
              <a:rPr b="0">
                <a:solidFill>
                  <a:srgbClr val="F8FAFC"/>
                </a:solidFill>
              </a:rPr>
              <a:t>Maximum vessel optical absorption.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CLAHE</a:t>
            </a:r>
          </a:p>
        </p:txBody>
      </p:sp>
      <p:pic>
        <p:nvPicPr>
          <p:cNvPr id="17" name="Picture 16" descr="track_a_clahe_enhan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828800"/>
            <a:ext cx="1508760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25696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Contrast Eq.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Grid: </a:t>
            </a:r>
            <a:r>
              <a:rPr b="0">
                <a:solidFill>
                  <a:srgbClr val="F8FAFC"/>
                </a:solidFill>
              </a:rPr>
              <a:t>8x8 tiles.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Clip β=2.0: </a:t>
            </a:r>
            <a:r>
              <a:rPr b="0">
                <a:solidFill>
                  <a:srgbClr val="F8FAFC"/>
                </a:solidFill>
              </a:rPr>
              <a:t>Balances peripheral shadow.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4. FRANGI</a:t>
            </a:r>
          </a:p>
        </p:txBody>
      </p:sp>
      <p:pic>
        <p:nvPicPr>
          <p:cNvPr id="22" name="Picture 21" descr="track_a_frangi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828800"/>
            <a:ext cx="150876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27064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Vesselness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Scale Sweep: </a:t>
            </a:r>
            <a:r>
              <a:rPr b="0">
                <a:solidFill>
                  <a:srgbClr val="F8FAFC"/>
                </a:solidFill>
              </a:rPr>
              <a:t>σ ∈ {1.0, 1.5, 2.0, 3.0}.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Eigenvalues: </a:t>
            </a:r>
            <a:r>
              <a:rPr b="0">
                <a:solidFill>
                  <a:srgbClr val="F8FAFC"/>
                </a:solidFill>
              </a:rPr>
              <a:t>Curvature eigenanalysis.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2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5. MASK</a:t>
            </a:r>
          </a:p>
        </p:txBody>
      </p:sp>
      <p:pic>
        <p:nvPicPr>
          <p:cNvPr id="27" name="Picture 26" descr="track_a_binary_m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2" y="1828800"/>
            <a:ext cx="1508760" cy="1645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28432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Binary Mask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Hysteresis: </a:t>
            </a:r>
            <a:r>
              <a:rPr b="0">
                <a:solidFill>
                  <a:srgbClr val="F8FAFC"/>
                </a:solidFill>
              </a:rPr>
              <a:t>τ_H=92%, τ_L=75%.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Pruning: </a:t>
            </a:r>
            <a:r>
              <a:rPr b="0">
                <a:solidFill>
                  <a:srgbClr val="F8FAFC"/>
                </a:solidFill>
              </a:rPr>
              <a:t>Removes area &lt; 25 px.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1371600"/>
            <a:ext cx="1691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48132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6. OVERLAY</a:t>
            </a:r>
          </a:p>
        </p:txBody>
      </p:sp>
      <p:pic>
        <p:nvPicPr>
          <p:cNvPr id="32" name="Picture 31" descr="track_a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1828800"/>
            <a:ext cx="1508760" cy="1645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829800" y="352043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Density 18.25%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4903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Biomarker: </a:t>
            </a:r>
            <a:r>
              <a:rPr b="0">
                <a:solidFill>
                  <a:srgbClr val="F8FAFC"/>
                </a:solidFill>
              </a:rPr>
              <a:t>Vessel density (%).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Overlay: </a:t>
            </a:r>
            <a:r>
              <a:rPr b="0">
                <a:solidFill>
                  <a:srgbClr val="F8FAFC"/>
                </a:solidFill>
              </a:rPr>
              <a:t>Green contours on fundus.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Preprocessing Concepts — Green Channel &amp; CLAHE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GREEN CHANNEL OPTICAL ABSORPTION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Physics of Hemoglobin: </a:t>
            </a:r>
            <a:r>
              <a:rPr b="0">
                <a:solidFill>
                  <a:srgbClr val="F8FAFC"/>
                </a:solidFill>
              </a:rPr>
              <a:t>Oxygenated and deoxygenated hemoglobin exhibit a peak optical extinction coefficient in the green wavelength range (540-570 nm).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Spectral Comparison: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Red Channel (600-700 nm): </a:t>
            </a:r>
            <a:r>
              <a:rPr b="0">
                <a:solidFill>
                  <a:srgbClr val="F8FAFC"/>
                </a:solidFill>
              </a:rPr>
              <a:t>Deeply penetrates into the choroid, reflecting off sclera; vessels appear washed out.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Green Channel (500-600 nm): </a:t>
            </a:r>
            <a:r>
              <a:rPr b="0">
                <a:solidFill>
                  <a:srgbClr val="F8FAFC"/>
                </a:solidFill>
              </a:rPr>
              <a:t>Vessels absorb light heavily, appearing dark on a bright background with maximum SNR.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Blue Channel (400-500 nm): </a:t>
            </a:r>
            <a:r>
              <a:rPr b="0">
                <a:solidFill>
                  <a:srgbClr val="F8FAFC"/>
                </a:solidFill>
              </a:rPr>
              <a:t>Severely scattered by the cornea and crystalline lens, resulting in noisy, poorly exposed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CLAHE (CONTRAST LIMITED ADAPTIVE HIST. EQ.)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Limitation of Global Histogram Eq.: </a:t>
            </a:r>
            <a:r>
              <a:rPr b="0">
                <a:solidFill>
                  <a:srgbClr val="F8FAFC"/>
                </a:solidFill>
              </a:rPr>
              <a:t>Global equalization over-saturates the bright optic disc while plunging the periphery into darkness.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Local Contextual Tiles: </a:t>
            </a:r>
            <a:r>
              <a:rPr b="0">
                <a:solidFill>
                  <a:srgbClr val="F8FAFC"/>
                </a:solidFill>
              </a:rPr>
              <a:t>CLAHE partitions the green image into an 8 x 8 grid of rectangular contextual regions.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Clip Limit Mechanism (β = 2.0): </a:t>
            </a:r>
            <a:r>
              <a:rPr b="0">
                <a:solidFill>
                  <a:srgbClr val="F8FAFC"/>
                </a:solidFill>
              </a:rPr>
              <a:t>To prevent noise amplification, the histogram slope is capped. Clipped pixels are redistributed equally across all bins before CDF mapping.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Bilinear Interpolation: </a:t>
            </a:r>
            <a:r>
              <a:rPr b="0">
                <a:solidFill>
                  <a:srgbClr val="F8FAFC"/>
                </a:solidFill>
              </a:rPr>
              <a:t>Adjacent tile boundaries are smoothly blended via bilinear interpolation to eliminate artificial boundary grid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A: Multiscale Frangi Vesselness &amp; Hysteresis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MULTISCALE HESSIAN EIGENANALYSIS (FRANGI)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Hessian Matrix (H_σ): </a:t>
            </a:r>
            <a:r>
              <a:rPr b="0">
                <a:solidFill>
                  <a:srgbClr val="F8FAFC"/>
                </a:solidFill>
              </a:rPr>
              <a:t>A 2x2 matrix of second partial spatial derivatives convolved with Gaussian kernel G(x, y; σ).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Eigenvalue Geometry (|λ_1| ≤ |λ_2|): </a:t>
            </a:r>
            <a:r>
              <a:rPr b="0">
                <a:solidFill>
                  <a:srgbClr val="F8FAFC"/>
                </a:solidFill>
              </a:rPr>
              <a:t>λ_1 measures curvature along the vessel (nearly flat, ~0). λ_2 measures cross-sectional curvature (steep ridge).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Blobness Ratio (R_B): </a:t>
            </a:r>
            <a:r>
              <a:rPr b="0">
                <a:solidFill>
                  <a:srgbClr val="F8FAFC"/>
                </a:solidFill>
              </a:rPr>
              <a:t>R_B = |λ_1| / |λ_2|. For tubular lines, R_B -&gt; 0. For circular blobs, R_B -&gt; 1.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Second-Order Structure (S): </a:t>
            </a:r>
            <a:r>
              <a:rPr b="0">
                <a:solidFill>
                  <a:srgbClr val="F8FAFC"/>
                </a:solidFill>
              </a:rPr>
              <a:t>S = sqrt(λ_1^2 + λ_2^2). Measures gradient energy, separating real vessels from flat background.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Multiscale Integration: </a:t>
            </a:r>
            <a:r>
              <a:rPr b="0">
                <a:solidFill>
                  <a:srgbClr val="F8FAFC"/>
                </a:solidFill>
              </a:rPr>
              <a:t>Evaluated across σ ∈ {1.0, 1.5, 2.0, 3.0} px. Maximum projection retains both fine capillaries and thick primary trunks.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DUAL-PERCENTILE HYSTERESIS THRESHOLDING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Otsu Fails (Dice 0.0816): </a:t>
            </a:r>
            <a:r>
              <a:rPr b="0">
                <a:solidFill>
                  <a:srgbClr val="F8FAFC"/>
                </a:solidFill>
              </a:rPr>
              <a:t>Otsu chooses a single cutoff that severs low-contrast vessels and creates disconnected vascular noise.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High Threshold (τ_H = 92nd percentile): </a:t>
            </a:r>
            <a:r>
              <a:rPr b="0">
                <a:solidFill>
                  <a:srgbClr val="F8FAFC"/>
                </a:solidFill>
              </a:rPr>
              <a:t>Identifies highly confident vessel cores where Frangi response is unequivocally strong.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Low Threshold (τ_L = 75th percentile): </a:t>
            </a:r>
            <a:r>
              <a:rPr b="0">
                <a:solidFill>
                  <a:srgbClr val="F8FAFC"/>
                </a:solidFill>
              </a:rPr>
              <a:t>Identifies candidate vessel pixels. Only candidates connected to a high-threshold core pixel are retained.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Area Opening Cleanup: </a:t>
            </a:r>
            <a:r>
              <a:rPr b="0">
                <a:solidFill>
                  <a:srgbClr val="F8FAFC"/>
                </a:solidFill>
              </a:rPr>
              <a:t>Connected components with area &lt; 25 pixels are eliminated as noise, preserving continuous vascular topology.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Optic Disc &amp; Cup Anatomy and the vCDR Biomarker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ANATOMICAL DEFINITIONS (TRACK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Nerve Head (Optic Disc): </a:t>
            </a:r>
            <a:r>
              <a:rPr b="0">
                <a:solidFill>
                  <a:srgbClr val="F8FAFC"/>
                </a:solidFill>
              </a:rPr>
              <a:t>The anatomical opening where retinal ganglion cell axons converge into the optic nerve. Appears as a bright circular/elliptical zone in the nasal retina.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Neuroretinal Rim: </a:t>
            </a:r>
            <a:r>
              <a:rPr b="0">
                <a:solidFill>
                  <a:srgbClr val="F8FAFC"/>
                </a:solidFill>
              </a:rPr>
              <a:t>The neural tissue lying between the outer disc boundary and the inner cup margin, appearing pinkish/orange due to dense micro-capillaries.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Physiological Optic Cup: </a:t>
            </a:r>
            <a:r>
              <a:rPr b="0">
                <a:solidFill>
                  <a:srgbClr val="F8FAFC"/>
                </a:solidFill>
              </a:rPr>
              <a:t>The central white/yellow excavation devoid of nerve tissue, representing the depression through which retinal vessels emerge.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Significance: </a:t>
            </a:r>
            <a:r>
              <a:rPr b="0">
                <a:solidFill>
                  <a:srgbClr val="F8FAFC"/>
                </a:solidFill>
              </a:rPr>
              <a:t>In glaucoma, intraocular pressure leads to progressive death of retinal nerve fibers, thinning the neuroretinal rim and enlarging the cup.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VERTICAL CUP-TO-DISC RATIO (VCDR)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Formulation: </a:t>
            </a:r>
            <a:r>
              <a:rPr b="0">
                <a:solidFill>
                  <a:srgbClr val="F8FAFC"/>
                </a:solidFill>
              </a:rPr>
              <a:t>vCDR = D_cup(vertical) / D_disc(vertical)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Vertical?: </a:t>
            </a:r>
            <a:r>
              <a:rPr b="0">
                <a:solidFill>
                  <a:srgbClr val="F8FAFC"/>
                </a:solidFill>
              </a:rPr>
              <a:t>Glaucomatous axonal loss follows the ISNT rule (Inferior &gt; Superior &gt; Nasal &gt; Temporal). Neural rim loss occurs fastest along the vertical axis (superior and inferior poles).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Reference Intervals (Indicative):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Normal Physiological Cup: </a:t>
            </a:r>
            <a:r>
              <a:rPr b="0">
                <a:solidFill>
                  <a:srgbClr val="F8FAFC"/>
                </a:solidFill>
              </a:rPr>
              <a:t>vCDR ≤ 0.50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Borderline / Suspect: </a:t>
            </a:r>
            <a:r>
              <a:rPr b="0">
                <a:solidFill>
                  <a:srgbClr val="F8FAFC"/>
                </a:solidFill>
              </a:rPr>
              <a:t>0.50 &lt; vCDR ≤ 0.65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Glaucomatous Structural Indicator: </a:t>
            </a:r>
            <a:r>
              <a:rPr b="0">
                <a:solidFill>
                  <a:srgbClr val="F8FAFC"/>
                </a:solidFill>
              </a:rPr>
              <a:t>vCDR &gt; 0.65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Important Note: </a:t>
            </a:r>
            <a:r>
              <a:rPr b="0">
                <a:solidFill>
                  <a:srgbClr val="F8FAFC"/>
                </a:solidFill>
              </a:rPr>
              <a:t>In OptiFilter, vCDR is an experimental image biomarker, not a clinical diagnosis.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Optic Disc &amp; Cup Complete Workflow &amp; Visual Filmstrip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57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ORIGINAL FUNDUS</a:t>
            </a:r>
          </a:p>
        </p:txBody>
      </p:sp>
      <p:pic>
        <p:nvPicPr>
          <p:cNvPr id="7" name="Picture 6" descr="track_b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7830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3703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High-Res ONH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Input: </a:t>
            </a:r>
            <a:r>
              <a:rPr b="0">
                <a:solidFill>
                  <a:srgbClr val="F8FAFC"/>
                </a:solidFill>
              </a:rPr>
              <a:t>Drishti-GS ~2048x1755.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Physics: </a:t>
            </a:r>
            <a:r>
              <a:rPr b="0">
                <a:solidFill>
                  <a:srgbClr val="F8FAFC"/>
                </a:solidFill>
              </a:rPr>
              <a:t>Reflective nerve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71600"/>
            <a:ext cx="2057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4813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LUMINANCE SMOOTH</a:t>
            </a:r>
          </a:p>
        </p:txBody>
      </p:sp>
      <p:pic>
        <p:nvPicPr>
          <p:cNvPr id="12" name="Picture 11" descr="track_b_smoothed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828800"/>
            <a:ext cx="178308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2384" y="3703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Gaussian Smoothing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931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Red Channel: </a:t>
            </a:r>
            <a:r>
              <a:rPr b="0">
                <a:solidFill>
                  <a:srgbClr val="F8FAFC"/>
                </a:solidFill>
              </a:rPr>
              <a:t>Vessels suppressed.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Centroid: </a:t>
            </a:r>
            <a:r>
              <a:rPr b="0">
                <a:solidFill>
                  <a:srgbClr val="F8FAFC"/>
                </a:solidFill>
              </a:rPr>
              <a:t>Clear peak localization.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371600"/>
            <a:ext cx="2057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14813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DISC MASK</a:t>
            </a:r>
          </a:p>
        </p:txBody>
      </p:sp>
      <p:pic>
        <p:nvPicPr>
          <p:cNvPr id="17" name="Picture 16" descr="track_b_disc_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828800"/>
            <a:ext cx="178308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76088" y="3703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Active Contour Snake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931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Energy Minimization: </a:t>
            </a:r>
            <a:r>
              <a:rPr b="0">
                <a:solidFill>
                  <a:srgbClr val="F8FAFC"/>
                </a:solidFill>
              </a:rPr>
              <a:t>Snaps to boundary.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Dice: </a:t>
            </a:r>
            <a:r>
              <a:rPr b="0">
                <a:solidFill>
                  <a:srgbClr val="F8FAFC"/>
                </a:solidFill>
              </a:rPr>
              <a:t>92.2% mean agreement.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2" y="1371600"/>
            <a:ext cx="2057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14813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4. CUP MASK</a:t>
            </a:r>
          </a:p>
        </p:txBody>
      </p:sp>
      <p:pic>
        <p:nvPicPr>
          <p:cNvPr id="22" name="Picture 21" descr="track_b_cup_m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1828800"/>
            <a:ext cx="1783080" cy="1828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79792" y="3703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CIELAB a*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931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Feature: </a:t>
            </a:r>
            <a:r>
              <a:rPr b="0">
                <a:solidFill>
                  <a:srgbClr val="F8FAFC"/>
                </a:solidFill>
              </a:rPr>
              <a:t>255 - a* (paleness).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Containment: </a:t>
            </a:r>
            <a:r>
              <a:rPr b="0">
                <a:solidFill>
                  <a:srgbClr val="F8FAFC"/>
                </a:solidFill>
              </a:rPr>
              <a:t>Cup ⊆ Disc guarantee.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1371600"/>
            <a:ext cx="205740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9216" y="14813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5. DISC &amp; CUP OVERLAY</a:t>
            </a:r>
          </a:p>
        </p:txBody>
      </p:sp>
      <p:pic>
        <p:nvPicPr>
          <p:cNvPr id="27" name="Picture 26" descr="disc_cup_overlay_drishtiGS_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3496" y="1828800"/>
            <a:ext cx="1783080" cy="1828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83496" y="3703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vCDR = 0.6847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3931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Morphometrics: </a:t>
            </a:r>
            <a:r>
              <a:rPr b="0">
                <a:solidFill>
                  <a:srgbClr val="F8FAFC"/>
                </a:solidFill>
              </a:rPr>
              <a:t>vCDR = D_cup / D_disc.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Clinical Triage: </a:t>
            </a:r>
            <a:r>
              <a:rPr b="0">
                <a:solidFill>
                  <a:srgbClr val="F8FAFC"/>
                </a:solidFill>
              </a:rPr>
              <a:t>Glaucoma risk alert.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B: Core Concepts — Morphological Closing &amp; CIELAB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ADAPTIVE MORPHOLOGICAL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Problem: </a:t>
            </a:r>
            <a:r>
              <a:rPr b="0">
                <a:solidFill>
                  <a:srgbClr val="F8FAFC"/>
                </a:solidFill>
              </a:rPr>
              <a:t>Major central retinal vessels enter the eye directly through the center of the optic disc, creating dark vertical stripes that break up the disc plateau.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Mathematical Formulation: </a:t>
            </a:r>
            <a:r>
              <a:rPr b="0">
                <a:solidFill>
                  <a:srgbClr val="F8FAFC"/>
                </a:solidFill>
              </a:rPr>
              <a:t>I • B = (I ⊕ B) ⊖ B (Dilation followed by erosion).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Structuring Element (B): </a:t>
            </a:r>
            <a:r>
              <a:rPr b="0">
                <a:solidFill>
                  <a:srgbClr val="F8FAFC"/>
                </a:solidFill>
              </a:rPr>
              <a:t>A flat circular disk with radius r_close = 0.025 * min(H, W), dynamically scaled to image resolution.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Mechanism: </a:t>
            </a:r>
            <a:r>
              <a:rPr b="0">
                <a:solidFill>
                  <a:srgbClr val="F8FAFC"/>
                </a:solidFill>
              </a:rPr>
              <a:t>The dilation expands bright tissue across dark narrow gaps (&lt; r_close), completely eliminating vessels. The erosion restores the outer disc perimeter to its original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CIELAB COLOR SPACE &amp; CUP CHROMATICITY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RGB Fails for Cup Segmentation: </a:t>
            </a:r>
            <a:r>
              <a:rPr b="0">
                <a:solidFill>
                  <a:srgbClr val="F8FAFC"/>
                </a:solidFill>
              </a:rPr>
              <a:t>In RGB, lightness and hue are coupled. High reflectance from myelinated nerve fibers confuses cup vs rim separation.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CIELAB Color Space: </a:t>
            </a:r>
            <a:r>
              <a:rPr b="0">
                <a:solidFill>
                  <a:srgbClr val="F8FAFC"/>
                </a:solidFill>
              </a:rPr>
              <a:t>Decouples perceived Lightness (L*) from chromatic coordinates (a* = green-red axis; b* = blue-yellow axis).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Inverted a* Feature (255 - a*): </a:t>
            </a:r>
            <a:r>
              <a:rPr b="0">
                <a:solidFill>
                  <a:srgbClr val="F8FAFC"/>
                </a:solidFill>
              </a:rPr>
              <a:t>The neuroretinal rim is rich in capillaries and appears pinkish/red (high a*). The optic cup is a depression devoid of blood flow and appears pale/yellow (low a*).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Otsu on 255 - a*: </a:t>
            </a:r>
            <a:r>
              <a:rPr b="0">
                <a:solidFill>
                  <a:srgbClr val="F8FAFC"/>
                </a:solidFill>
              </a:rPr>
              <a:t>Extracting 255 - a* turns the pale cup into a distinct bright plateau, allowing clean, robust binarization inside the disc ROI.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vCDR: Mathematical Measurement, Example &amp; Clinical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MEASUREMENT FORMULATION &amp; 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Vertical Span Formulation: </a:t>
            </a:r>
            <a:r>
              <a:rPr b="0">
                <a:solidFill>
                  <a:srgbClr val="F8FAFC"/>
                </a:solidFill>
              </a:rPr>
              <a:t>D = max(y | M(x, y) = 1) - min(y | M(x, y) = 1) + 1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Equation: </a:t>
            </a:r>
            <a:r>
              <a:rPr b="0">
                <a:solidFill>
                  <a:srgbClr val="F8FAFC"/>
                </a:solidFill>
              </a:rPr>
              <a:t>vCDR = D_cup / D_disc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Worked Numerical Example: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Segmented Disc Extent: </a:t>
            </a:r>
            <a:r>
              <a:rPr b="0">
                <a:solidFill>
                  <a:srgbClr val="F8FAFC"/>
                </a:solidFill>
              </a:rPr>
              <a:t>y_min = 450, y_max = 850 -&gt; D_disc = 401 pixels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Segmented Cup Extent: </a:t>
            </a:r>
            <a:r>
              <a:rPr b="0">
                <a:solidFill>
                  <a:srgbClr val="F8FAFC"/>
                </a:solidFill>
              </a:rPr>
              <a:t>y_min = 550, y_max = 790 -&gt; D_cup = 241 pixels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Resulting vCDR: </a:t>
            </a:r>
            <a:r>
              <a:rPr b="0">
                <a:solidFill>
                  <a:srgbClr val="F8FAFC"/>
                </a:solidFill>
              </a:rPr>
              <a:t>241 / 401 = 0.601 (Borderline Suspect Range)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Deterministic Safety: </a:t>
            </a:r>
            <a:r>
              <a:rPr b="0">
                <a:solidFill>
                  <a:srgbClr val="F8FAFC"/>
                </a:solidFill>
              </a:rPr>
              <a:t>If D_disc ≤ 0 (degenerate contour), OptiFilter flags a structured failure rather than returning a synthetic ratio.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SOURCES OF UNCERTAINTY &amp; NON-DIAGNOSTIC 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Monocular 2D Limitation: </a:t>
            </a:r>
            <a:r>
              <a:rPr b="0">
                <a:solidFill>
                  <a:srgbClr val="F8FAFC"/>
                </a:solidFill>
              </a:rPr>
              <a:t>True clinical cup depth cannot be fully measured from a single 2D color image. It requires stereoscopic viewing or optical coherence tomography (OCT).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Sensitivity to Centroid Alignment: </a:t>
            </a:r>
            <a:r>
              <a:rPr b="0">
                <a:solidFill>
                  <a:srgbClr val="F8FAFC"/>
                </a:solidFill>
              </a:rPr>
              <a:t>If the active contour shifts slightly temporal due to peripapillary atrophy (PPA), vertical disc span can be slightly underestimated, artificially elevating vCDR.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Strict Ethical Guardrails: </a:t>
            </a:r>
            <a:r>
              <a:rPr b="0">
                <a:solidFill>
                  <a:srgbClr val="F8FAFC"/>
                </a:solidFill>
              </a:rPr>
              <a:t>OptiFilter provides research telemetry and descriptive structural metrics. It is explicitly not an automated diagnostic device and must not replace an ophthalmologist's stereoscopic fundoscopy.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Evaluation Methodology: Confusion Matrix, Dice &amp; IoU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MATHEMATICAL FORMULAS &amp;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Dice Similarity (F1 Score): </a:t>
            </a:r>
            <a:r>
              <a:rPr b="0">
                <a:solidFill>
                  <a:srgbClr val="F8FAFC"/>
                </a:solidFill>
              </a:rPr>
              <a:t>Dice = 2 * TP / (2 * TP + FP + FN) = 2 * |P ∩ G| / (|P| + |G|)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Jaccard Index (IoU): </a:t>
            </a:r>
            <a:r>
              <a:rPr b="0">
                <a:solidFill>
                  <a:srgbClr val="F8FAFC"/>
                </a:solidFill>
              </a:rPr>
              <a:t>IoU = TP / (TP + FP + FN) = |P ∩ G| / |P ∪ G|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Sensitivity (Recall / TPR): </a:t>
            </a:r>
            <a:r>
              <a:rPr b="0">
                <a:solidFill>
                  <a:srgbClr val="F8FAFC"/>
                </a:solidFill>
              </a:rPr>
              <a:t>Sensitivity = TP / (TP + FN)  [Measures detected vessels]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Specificity (TNR): </a:t>
            </a:r>
            <a:r>
              <a:rPr b="0">
                <a:solidFill>
                  <a:srgbClr val="F8FAFC"/>
                </a:solidFill>
              </a:rPr>
              <a:t>Specificity = TN / (TN + FP)  [Measures correct background]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Precision (PPV): </a:t>
            </a:r>
            <a:r>
              <a:rPr b="0">
                <a:solidFill>
                  <a:srgbClr val="F8FAFC"/>
                </a:solidFill>
              </a:rPr>
              <a:t>Precision = TP / (TP + FP)  [Measures clean vessel pixels]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Overall Accuracy: </a:t>
            </a:r>
            <a:r>
              <a:rPr b="0">
                <a:solidFill>
                  <a:srgbClr val="F8FAFC"/>
                </a:solidFill>
              </a:rPr>
              <a:t>Accuracy = (TP + TN) / (TP + TN + FP + FN)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SPATIAL CONSTRAINTS &amp; THE ACCURACY FALLACY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The Pixel Accuracy Paradox: </a:t>
            </a:r>
            <a:r>
              <a:rPr b="0">
                <a:solidFill>
                  <a:srgbClr val="F8FAFC"/>
                </a:solidFill>
              </a:rPr>
              <a:t>In fundus images, background tissue occupies ~90% of the area. A trivial algorithm predicting 100% black achieves 90% accuracy! Therefore, Dice and Sensitivity are the true benchmarks.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Strict Field of View (FOV) Masking: </a:t>
            </a:r>
            <a:r>
              <a:rPr b="0">
                <a:solidFill>
                  <a:srgbClr val="F8FAFC"/>
                </a:solidFill>
              </a:rPr>
              <a:t>All metric counters (TP, FP, FN, TN) are evaluated strictly over pixels where FOV_mask(x, y) == 1. Pixels outside the circular camera border are completely excluded.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Binary Ground-Truth Thresholding: </a:t>
            </a:r>
            <a:r>
              <a:rPr b="0">
                <a:solidFill>
                  <a:srgbClr val="F8FAFC"/>
                </a:solidFill>
              </a:rPr>
              <a:t>Continuous soft-probability expert maps (Drishti-GS) are binarized using majority voting (probability ≥ 0.50) before scoring.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Experimental Design: Scientific Fairness &amp; Zero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RIGOROUS EXPERIMENTAL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Prevention of Data Leakage: </a:t>
            </a:r>
            <a:r>
              <a:rPr b="0">
                <a:solidFill>
                  <a:srgbClr val="F8FAFC"/>
                </a:solidFill>
              </a:rPr>
              <a:t>Algorithm hyperparameters (Frangi scales σ, CLAHE clip limit β, hysteresis percentiles, snake weights) were calibrated strictly on the Development splits. The Held-Out splits were evaluated exactly once under frozen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Fixed Deterministic Splits (Seed 42):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DRIVE Dataset (20 Annotated Images): </a:t>
            </a:r>
            <a:r>
              <a:rPr b="0">
                <a:solidFill>
                  <a:srgbClr val="F8FAFC"/>
                </a:solidFill>
              </a:rPr>
              <a:t>15 Development cases (21_training to 35_training) | 5 Held-Out cases (36_training to 40_training).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Drishti-GS Dataset (50 Annotated Images): </a:t>
            </a:r>
            <a:r>
              <a:rPr b="0">
                <a:solidFill>
                  <a:srgbClr val="F8FAFC"/>
                </a:solidFill>
              </a:rPr>
              <a:t>35 Development cases (drishtiGS_001 to 035) | 15 Held-Out cases (drishtiGS_036 to 050).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One-Variable-at-a-Time (OVAT) Ablation: </a:t>
            </a:r>
            <a:r>
              <a:rPr b="0">
                <a:solidFill>
                  <a:srgbClr val="F8FAFC"/>
                </a:solidFill>
              </a:rPr>
              <a:t>To prove the individual contribution of each DIP component, controlled variants were executed where exactly one component was modified or disabled while keeping all other variables constant.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Traceability &amp; Reproducibility: </a:t>
            </a:r>
            <a:r>
              <a:rPr b="0">
                <a:solidFill>
                  <a:srgbClr val="F8FAFC"/>
                </a:solidFill>
              </a:rPr>
              <a:t>Every benchmark result is automatically logged to CSV files with image IDs, timestamps, hardware specs, and runtime latencies recorded via time.perf_counter().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No Fabrication Policy: </a:t>
            </a:r>
            <a:r>
              <a:rPr b="0">
                <a:solidFill>
                  <a:srgbClr val="F8FAFC"/>
                </a:solidFill>
              </a:rPr>
              <a:t>Where reference masks are absent (e.g. DRIVE official test set lacking public 1st_manual segmentations), accuracy is honestly withheld rather than approximated.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A Results: Empirical Benchmarks on DRIVE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QUANTITATIVE PERFORMANCE (DRIVE, N=20)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Evaluated Images: </a:t>
            </a:r>
            <a:r>
              <a:rPr b="0">
                <a:solidFill>
                  <a:srgbClr val="F8FAFC"/>
                </a:solidFill>
              </a:rPr>
              <a:t>20 fully annotated DRIVE images (15 Dev, 5 Held-Out) evaluated strictly within the circular FOV.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Overall Mean Dice (F1): </a:t>
            </a:r>
            <a:r>
              <a:rPr b="0">
                <a:solidFill>
                  <a:srgbClr val="F8FAFC"/>
                </a:solidFill>
              </a:rPr>
              <a:t>0.6586 ± 0.058 (Held-Out Split: 0.6986)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IoU (Jaccard): </a:t>
            </a:r>
            <a:r>
              <a:rPr b="0">
                <a:solidFill>
                  <a:srgbClr val="F8FAFC"/>
                </a:solidFill>
              </a:rPr>
              <a:t>0.4935 ± 0.061 (Held-Out Split: 0.5370)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Sensitivity (Recall): </a:t>
            </a:r>
            <a:r>
              <a:rPr b="0">
                <a:solidFill>
                  <a:srgbClr val="F8FAFC"/>
                </a:solidFill>
              </a:rPr>
              <a:t>0.7307 ± 0.045 (Held-Out Split: 0.7665)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Specificity (TNR): </a:t>
            </a:r>
            <a:r>
              <a:rPr b="0">
                <a:solidFill>
                  <a:srgbClr val="F8FAFC"/>
                </a:solidFill>
              </a:rPr>
              <a:t>0.9315 ± 0.018 (Held-Out Split: 0.9378)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Precision (PPV): </a:t>
            </a:r>
            <a:r>
              <a:rPr b="0">
                <a:solidFill>
                  <a:srgbClr val="F8FAFC"/>
                </a:solidFill>
              </a:rPr>
              <a:t>0.6062 ± 0.085 (Held-Out Split: 0.6442)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Mean Pixel Accuracy: </a:t>
            </a:r>
            <a:r>
              <a:rPr b="0">
                <a:solidFill>
                  <a:srgbClr val="F8FAFC"/>
                </a:solidFill>
              </a:rPr>
              <a:t>0.9058 ± 0.016 (Held-Out Split: 0.9152)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VALIDATION OVERLAYS (DRIVE)</a:t>
            </a:r>
          </a:p>
        </p:txBody>
      </p:sp>
      <p:pic>
        <p:nvPicPr>
          <p:cNvPr id="10" name="Picture 9" descr="vessel_overlay_2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219456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21 (Dice 0.667)</a:t>
            </a:r>
          </a:p>
        </p:txBody>
      </p:sp>
      <p:pic>
        <p:nvPicPr>
          <p:cNvPr id="12" name="Picture 11" descr="vessel_overlay_24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219456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24 (Dice 0.715)</a:t>
            </a:r>
          </a:p>
        </p:txBody>
      </p:sp>
      <p:pic>
        <p:nvPicPr>
          <p:cNvPr id="14" name="Picture 13" descr="vessel_overlay_36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19456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DRIVE 36 Held-Out (Dice 0.720)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Track B Results &amp; Failure Analysis (Drishti-GS Dataset)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QUANTITATIVE BENCHMARKS (DRISHTI-GS, N=50)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Mean Dice: </a:t>
            </a:r>
            <a:r>
              <a:rPr b="0">
                <a:solidFill>
                  <a:srgbClr val="F8FAFC"/>
                </a:solidFill>
              </a:rPr>
              <a:t>0.9221 ± 0.136 (Held-Out Split: 0.9459)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Disc Mean IoU: </a:t>
            </a:r>
            <a:r>
              <a:rPr b="0">
                <a:solidFill>
                  <a:srgbClr val="F8FAFC"/>
                </a:solidFill>
              </a:rPr>
              <a:t>0.8719 ± 0.134 (Held-Out Split: 0.8977)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Optic Cup Mean Dice: </a:t>
            </a:r>
            <a:r>
              <a:rPr b="0">
                <a:solidFill>
                  <a:srgbClr val="F8FAFC"/>
                </a:solidFill>
              </a:rPr>
              <a:t>0.3229 ± 0.247 (Held-Out Split: 0.3017)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vCDR Absolute Error: </a:t>
            </a:r>
            <a:r>
              <a:rPr b="0">
                <a:solidFill>
                  <a:srgbClr val="F8FAFC"/>
                </a:solidFill>
              </a:rPr>
              <a:t>0.3513 ± 0.251 (Dev: 0.3428, Held-Out: 0.3992)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Robust Convergence: </a:t>
            </a:r>
            <a:r>
              <a:rPr b="0">
                <a:solidFill>
                  <a:srgbClr val="F8FAFC"/>
                </a:solidFill>
              </a:rPr>
              <a:t>49 of 50 cases converged without fallback.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Why Cup Dice is Lower: </a:t>
            </a:r>
            <a:r>
              <a:rPr b="0">
                <a:solidFill>
                  <a:srgbClr val="F8FAFC"/>
                </a:solidFill>
              </a:rPr>
              <a:t>The cup is a subtle 3D physical excavation; 2D color thresholding detects the pale bottom rather than the sloping 3D rim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SEGMENTATION &amp; DIAGNOSTIC OVERLAYS</a:t>
            </a:r>
          </a:p>
        </p:txBody>
      </p:sp>
      <p:pic>
        <p:nvPicPr>
          <p:cNvPr id="10" name="Picture 9" descr="disc_cup_overlay_drishtiGS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219456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drishtiGS_012 (vCDR Error 0.002)</a:t>
            </a:r>
          </a:p>
        </p:txBody>
      </p:sp>
      <p:pic>
        <p:nvPicPr>
          <p:cNvPr id="12" name="Picture 11" descr="disc_cup_overlay_drishtiGS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219456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drishtiGS_015 (High Confidence)</a:t>
            </a:r>
          </a:p>
        </p:txBody>
      </p:sp>
      <p:pic>
        <p:nvPicPr>
          <p:cNvPr id="14" name="Picture 13" descr="diagnostic_overlay_drishtiGS_0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19456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Diagnostic: Pale Cup Bottom</a:t>
            </a:r>
          </a:p>
        </p:txBody>
      </p:sp>
      <p:pic>
        <p:nvPicPr>
          <p:cNvPr id="16" name="Picture 15" descr="diagnostic_overlay_drishtiGS_0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023360"/>
            <a:ext cx="2194560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5989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Diagnostic: Glaucomatous Rim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Runtime &amp; Computational Latency Profiling on Commodity 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EMPIRICAL CPU LATENCY (TIME.PERF_COUNTER)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Target Performance Budget: </a:t>
            </a:r>
            <a:r>
              <a:rPr b="0">
                <a:solidFill>
                  <a:srgbClr val="F8FAFC"/>
                </a:solidFill>
              </a:rPr>
              <a:t>Sub-2000 ms per image on commodity non-GPU CPU hardware.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Benchmarking Protocol: </a:t>
            </a:r>
            <a:r>
              <a:rPr b="0">
                <a:solidFill>
                  <a:srgbClr val="F8FAFC"/>
                </a:solidFill>
              </a:rPr>
              <a:t>3 warm-up runs, 5 timed repetitions per image measuring pure algorithmic execution (excluding disk I/O and JSON encoding).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A: Vessel Extraction (DRIVE, 565x584 px):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Mean Latency: </a:t>
            </a:r>
            <a:r>
              <a:rPr b="0">
                <a:solidFill>
                  <a:srgbClr val="F8FAFC"/>
                </a:solidFill>
              </a:rPr>
              <a:t>535.1 ms (3.7x faster than target budget! ✅)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Median Latency: </a:t>
            </a:r>
            <a:r>
              <a:rPr b="0">
                <a:solidFill>
                  <a:srgbClr val="F8FAFC"/>
                </a:solidFill>
              </a:rPr>
              <a:t>539.7 ms (Min: 517.5 ms, Max: 545.1 ms)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Standard Deviation: </a:t>
            </a:r>
            <a:r>
              <a:rPr b="0">
                <a:solidFill>
                  <a:srgbClr val="F8FAFC"/>
                </a:solidFill>
              </a:rPr>
              <a:t>± 10.3 ms (highly consistent determinism)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Track B: Full Resolution (Drishti-GS, 1752x2045 px): </a:t>
            </a:r>
            <a:r>
              <a:rPr b="0">
                <a:solidFill>
                  <a:srgbClr val="F8FAFC"/>
                </a:solidFill>
              </a:rPr>
              <a:t/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• Mean Latency: </a:t>
            </a:r>
            <a:r>
              <a:rPr b="0">
                <a:solidFill>
                  <a:srgbClr val="F8FAFC"/>
                </a:solidFill>
              </a:rPr>
              <a:t>2864.7 ms (high-resolution active contour scaling)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TRACK A STAGE BREAKDOWN (% LATENCY)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Image Validation &amp; Preprocessing: </a:t>
            </a:r>
            <a:r>
              <a:rPr b="0">
                <a:solidFill>
                  <a:srgbClr val="F8FAFC"/>
                </a:solidFill>
              </a:rPr>
              <a:t>18.4 ms (4.0%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CLAHE Contrast Equalization: </a:t>
            </a:r>
            <a:r>
              <a:rPr b="0">
                <a:solidFill>
                  <a:srgbClr val="F8FAFC"/>
                </a:solidFill>
              </a:rPr>
              <a:t>24.1 ms (5.3%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Multiscale Hessian Convolutions (4 scales): </a:t>
            </a:r>
            <a:r>
              <a:rPr b="0">
                <a:solidFill>
                  <a:srgbClr val="F8FAFC"/>
                </a:solidFill>
              </a:rPr>
              <a:t>362.5 ms (79.1% — computationally dominant step)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Dual-Percentile Hysteresis Thresholding: </a:t>
            </a:r>
            <a:r>
              <a:rPr b="0">
                <a:solidFill>
                  <a:srgbClr val="F8FAFC"/>
                </a:solidFill>
              </a:rPr>
              <a:t>45.2 ms (9.8%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Area Opening &amp; FOV Masking: </a:t>
            </a:r>
            <a:r>
              <a:rPr b="0">
                <a:solidFill>
                  <a:srgbClr val="F8FAFC"/>
                </a:solidFill>
              </a:rPr>
              <a:t>8.0 ms (1.8% of total pipeline)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Total Track A Runtime: </a:t>
            </a:r>
            <a:r>
              <a:rPr b="0">
                <a:solidFill>
                  <a:srgbClr val="F8FAFC"/>
                </a:solidFill>
              </a:rPr>
              <a:t>458.2 ms (100.0%)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Memory Footprint: </a:t>
            </a:r>
            <a:r>
              <a:rPr b="0">
                <a:solidFill>
                  <a:srgbClr val="F8FAFC"/>
                </a:solidFill>
              </a:rPr>
              <a:t>Peak RAM &lt; 240 MB, zero GPU memory allocated.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OptiFilter Workstation: Dual-Mode Research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STUDENT MODE: GUIDED STEPPER &amp; FILMSTRIP</a:t>
            </a:r>
          </a:p>
        </p:txBody>
      </p:sp>
      <p:pic>
        <p:nvPicPr>
          <p:cNvPr id="7" name="Picture 6" descr="track_a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7548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2519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Live Vessel Overlay &amp; Filmstrip Viewport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Guided 4-Step Stepper: </a:t>
            </a:r>
            <a:r>
              <a:rPr b="0">
                <a:solidFill>
                  <a:srgbClr val="F8FAFC"/>
                </a:solidFill>
              </a:rPr>
              <a:t>Guides users through Source -&gt; Preprocessing -&gt; Segmentation -&gt; Morphometrics.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Interactive Filmstrip: </a:t>
            </a:r>
            <a:r>
              <a:rPr b="0">
                <a:solidFill>
                  <a:srgbClr val="F8FAFC"/>
                </a:solidFill>
              </a:rPr>
              <a:t>Exposes all intermediate pipeline images for pedagogical inspection.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White Workstation Chrome: </a:t>
            </a:r>
            <a:r>
              <a:rPr b="0">
                <a:solidFill>
                  <a:srgbClr val="F8FAFC"/>
                </a:solidFill>
              </a:rPr>
              <a:t>Crisp white interface with optically dark viewport canvas.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CLINIC MODE: CONFUSION MATRIX &amp; DIAGNOSTICS</a:t>
            </a:r>
          </a:p>
        </p:txBody>
      </p:sp>
      <p:pic>
        <p:nvPicPr>
          <p:cNvPr id="12" name="Picture 11" descr="disc_cup_overlay_drishtiGS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8463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2519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Track B vCDR Estimation &amp; Clinical Status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Diagnostic Telemetry: </a:t>
            </a:r>
            <a:r>
              <a:rPr b="0">
                <a:solidFill>
                  <a:srgbClr val="F8FAFC"/>
                </a:solidFill>
              </a:rPr>
              <a:t>Real-time display of TP, FP, FN, TN, precision, and CPU latency.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Multi-Layer Display: </a:t>
            </a:r>
            <a:r>
              <a:rPr b="0">
                <a:solidFill>
                  <a:srgbClr val="F8FAFC"/>
                </a:solidFill>
              </a:rPr>
              <a:t>Base fundus, binary mask, blended overlay, and interactive split-screen wipe.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Export Engine: </a:t>
            </a:r>
            <a:r>
              <a:rPr b="0">
                <a:solidFill>
                  <a:srgbClr val="F8FAFC"/>
                </a:solidFill>
              </a:rPr>
              <a:t>One-click CSV summary, JSON audit logs, and high-res mask downloads.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Research Summary, Limitations &amp; Ethical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1. IMPLEMENTED &amp;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Dual DIP Pipelines: </a:t>
            </a:r>
            <a:r>
              <a:rPr b="0">
                <a:solidFill>
                  <a:srgbClr val="F8FAFC"/>
                </a:solidFill>
              </a:rPr>
              <a:t>Fully functional Track A (vessels) and Track B (disc/cup/vCDR).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Deterministic Guarantees: </a:t>
            </a:r>
            <a:r>
              <a:rPr b="0">
                <a:solidFill>
                  <a:srgbClr val="F8FAFC"/>
                </a:solidFill>
              </a:rPr>
              <a:t>Cup ⊆ Disc containment guarantee and strict FOV evaluation.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CPU Real-Time Speed: </a:t>
            </a:r>
            <a:r>
              <a:rPr b="0">
                <a:solidFill>
                  <a:srgbClr val="F8FAFC"/>
                </a:solidFill>
              </a:rPr>
              <a:t>535 ms average execution latency on commodity hardware.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Full Web Workstation: </a:t>
            </a:r>
            <a:r>
              <a:rPr b="0">
                <a:solidFill>
                  <a:srgbClr val="F8FAFC"/>
                </a:solidFill>
              </a:rPr>
              <a:t>React 19 + FastAPI frontend and REST backend with live benchmark exports.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2. TECHNICAL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Classical DIP Boundaries: </a:t>
            </a:r>
            <a:r>
              <a:rPr b="0">
                <a:solidFill>
                  <a:srgbClr val="F8FAFC"/>
                </a:solidFill>
              </a:rPr>
              <a:t>Sensitive to severe illumination falloff and optical drusen.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2D Cup Depth Ambiguity: </a:t>
            </a:r>
            <a:r>
              <a:rPr b="0">
                <a:solidFill>
                  <a:srgbClr val="F8FAFC"/>
                </a:solidFill>
              </a:rPr>
              <a:t>Classical 2D thresholding detects pale cup floor, not true 3D rim drop-off.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Resolution Scaling: </a:t>
            </a:r>
            <a:r>
              <a:rPr b="0">
                <a:solidFill>
                  <a:srgbClr val="F8FAFC"/>
                </a:solidFill>
              </a:rPr>
              <a:t>Images &gt; 2000 px require pyramid downsampling to maintain sub-second CPU speed.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Central Light Reflex: </a:t>
            </a:r>
            <a:r>
              <a:rPr b="0">
                <a:solidFill>
                  <a:srgbClr val="F8FAFC"/>
                </a:solidFill>
              </a:rPr>
              <a:t>Arteriole reflex can cause occasional split-vessel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918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3. ETHICAL &amp; CLINICAL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Non-Diagnostic Status: </a:t>
            </a:r>
            <a:r>
              <a:rPr b="0">
                <a:solidFill>
                  <a:srgbClr val="F8FAFC"/>
                </a:solidFill>
              </a:rPr>
              <a:t>Strictly an exploratory academic research and screening triage tool.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Descriptive Biomarkers: </a:t>
            </a:r>
            <a:r>
              <a:rPr b="0">
                <a:solidFill>
                  <a:srgbClr val="F8FAFC"/>
                </a:solidFill>
              </a:rPr>
              <a:t>Biomarkers labeled as 'Experimental Glaucoma-Related Structural Indicator'.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Physician Primacy: </a:t>
            </a:r>
            <a:r>
              <a:rPr b="0">
                <a:solidFill>
                  <a:srgbClr val="F8FAFC"/>
                </a:solidFill>
              </a:rPr>
              <a:t>Final diagnostic decisions require licensed ophthalmologists using stereoscopic fundoscopy &amp; OCT.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Zero Hallucination: </a:t>
            </a:r>
            <a:r>
              <a:rPr b="0">
                <a:solidFill>
                  <a:srgbClr val="F8FAFC"/>
                </a:solidFill>
              </a:rPr>
              <a:t>Metrics withheld when ground truth is absent.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CLASSICAL DIP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KEY PROJECT 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Viability of Classical DIP: </a:t>
            </a:r>
            <a:r>
              <a:rPr b="0">
                <a:solidFill>
                  <a:srgbClr val="F8FAFC"/>
                </a:solidFill>
              </a:rPr>
              <a:t>Proved that classical digital image processing remains powerful, deterministic, and clinically interpretable for retinal screening without deep neural networks.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Hardware Freedom: </a:t>
            </a:r>
            <a:r>
              <a:rPr b="0">
                <a:solidFill>
                  <a:srgbClr val="F8FAFC"/>
                </a:solidFill>
              </a:rPr>
              <a:t>Demonstrated that sub-second inference (&lt;550 ms) is achievable on low-cost, commodity CPUs without requiring multi-thousand dollar GPUs.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Mathematical Transparency: </a:t>
            </a:r>
            <a:r>
              <a:rPr b="0">
                <a:solidFill>
                  <a:srgbClr val="F8FAFC"/>
                </a:solidFill>
              </a:rPr>
              <a:t>Every filter response, gradient calculation, and contour deformation corresponds directly to physical anatomical properties.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Complete Working System: </a:t>
            </a:r>
            <a:r>
              <a:rPr b="0">
                <a:solidFill>
                  <a:srgbClr val="F8FAFC"/>
                </a:solidFill>
              </a:rPr>
              <a:t>Delivered a fully integrated, dual-mode research workstation with live empirical benchmarking and audit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FUTURE TECHNICAL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Multi-Resolution Pyramids: </a:t>
            </a:r>
            <a:r>
              <a:rPr b="0">
                <a:solidFill>
                  <a:srgbClr val="F8FAFC"/>
                </a:solidFill>
              </a:rPr>
              <a:t>Implement Gaussian image pyramids for high-resolution Drishti-GS images to bring Track B execution under 500 ms at full scale.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Shape-from-Shading for the Cup: </a:t>
            </a:r>
            <a:r>
              <a:rPr b="0">
                <a:solidFill>
                  <a:srgbClr val="F8FAFC"/>
                </a:solidFill>
              </a:rPr>
              <a:t>Explore 2D photometric shape-from-shading to approximate 3D excavation depth within the optic disc from monocular photographs.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Vascular Morphometry: </a:t>
            </a:r>
            <a:r>
              <a:rPr b="0">
                <a:solidFill>
                  <a:srgbClr val="F8FAFC"/>
                </a:solidFill>
              </a:rPr>
              <a:t>Extend Track A to calculate vessel tortuosity indices and bifurcation branching angles for hypertensive retinopathy screening.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WebAssembly (WASM) Compilation: </a:t>
            </a:r>
            <a:r>
              <a:rPr b="0">
                <a:solidFill>
                  <a:srgbClr val="F8FAFC"/>
                </a:solidFill>
              </a:rPr>
              <a:t>Compile the C/C++ image processing core to WebAssembly to run 100% offline inside web browsers without any backend server.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OPTIFILTER / MORPHOVISION — SCIENTIFIC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Authoritative References &amp; Thank You /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t>PEER-REVIEWED SCIENTIFIC LITERATURE &amp; DATASET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1. Frangi Vesselness Filtering: </a:t>
            </a:r>
            <a:r>
              <a:rPr b="0">
                <a:solidFill>
                  <a:srgbClr val="F8FAFC"/>
                </a:solidFill>
              </a:rPr>
              <a:t>Frangi, A. F., Niessen, W. J., Vincken, K. L., &amp; Viergever, M. A. (1998). Multiscale vessel enhancement filtering. In Medical Image Computing and Computer-Assisted Intervention (MICCAI), LNCS 1496, pp. 130–137.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2. Active Contour Models (Snakes): </a:t>
            </a:r>
            <a:r>
              <a:rPr b="0">
                <a:solidFill>
                  <a:srgbClr val="F8FAFC"/>
                </a:solidFill>
              </a:rPr>
              <a:t>Kass, M., Witkin, A., &amp; Terzopoulos, D. (1988). Snakes: Active contour models. International Journal of Computer Vision (IJCV), 1(4), pp. 321–331.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3. DRIVE Benchmark Dataset: </a:t>
            </a:r>
            <a:r>
              <a:rPr b="0">
                <a:solidFill>
                  <a:srgbClr val="F8FAFC"/>
                </a:solidFill>
              </a:rPr>
              <a:t>Staal, J., Abràmoff, M. D., Niemeijer, M., Viergever, M. A., &amp; van Ginneken, B. (2004). Ridge-based vessel segmentation in color images of the retina. IEEE Transactions on Medical Imaging (TMI), 23(4), pp. 501–509.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4. Drishti-GS Glaucoma Dataset: </a:t>
            </a:r>
            <a:r>
              <a:rPr b="0">
                <a:solidFill>
                  <a:srgbClr val="F8FAFC"/>
                </a:solidFill>
              </a:rPr>
              <a:t>Sivaswamy, J., Krishnadas, S. R., Chakravarty, A., Joshi, G., Tabish, A. S., &amp; Rani, P. K. (2014). A comprehensive retinal dataset for glaucoma assessment (Drishti-GS). In IEEE International Symposium on Biomedical Imaging (ISBI), pp. 231–234.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5. CLAHE Equalization: </a:t>
            </a:r>
            <a:r>
              <a:rPr b="0">
                <a:solidFill>
                  <a:srgbClr val="F8FAFC"/>
                </a:solidFill>
              </a:rPr>
              <a:t>Zuiderveld, K. (1994). Contrast limited adaptive histogram equalization. In Graphics Gems IV, Academic Press, pp. 474–485.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6. Otsu Optimal Thresholding: </a:t>
            </a:r>
            <a:r>
              <a:rPr b="0">
                <a:solidFill>
                  <a:srgbClr val="F8FAFC"/>
                </a:solidFill>
              </a:rPr>
              <a:t>Otsu, N. (1979). A threshold selection method from gray-level histograms. IEEE Transactions on Systems, Man, and Cybernetics, 9(1), pp. 62–66.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rPr b="1">
                <a:solidFill>
                  <a:srgbClr val="64FFDA"/>
                </a:solidFill>
              </a:rPr>
              <a:t>Thank You for Your Time &amp; Guidance: </a:t>
            </a:r>
            <a:r>
              <a:rPr b="0">
                <a:solidFill>
                  <a:srgbClr val="F8FAFC"/>
                </a:solidFill>
              </a:rPr>
              <a:t>I am now prepared to answer any technical, mathematical, or implementation questions from the examination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