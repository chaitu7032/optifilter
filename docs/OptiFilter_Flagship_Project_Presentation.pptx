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 — Title):</a:t>
            </a:r>
          </a:p>
          <a:p>
            <a:r>
              <a:t>- Good morning, respected professor and examiners. Today I present my final year digital image processing project: OptiFilter, also termed MorphoVision.</a:t>
            </a:r>
          </a:p>
          <a:p>
            <a:r>
              <a:t>- The objective of this project is to extract clinically significant retinal structures—blood vessels and the optic nerve head—using strictly classical digital image processing algorithms.</a:t>
            </a:r>
          </a:p>
          <a:p>
            <a:r>
              <a:t>- A key premise of this project is that we use ZERO deep learning, zero neural networks, and zero pre-trained models. Every single segmentation output is mathematically deterministic and executed on standard commodity CPUs in sub-second runtimes.</a:t>
            </a:r>
          </a:p>
          <a:p>
            <a:r>
              <a:t>- Today I will walk you through the system architecture, mathematical derivations, empirical benchmark results on DRIVE and Drishti-GS, failure analysis, and live application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2 — Project in One Minute):</a:t>
            </a:r>
          </a:p>
          <a:p>
            <a:r>
              <a:t>- What problem does this project address? Early detection of blinding ocular diseases like glaucoma and diabetic retinopathy requires accurate measurement of retinal vessels and the optic nerve head.</a:t>
            </a:r>
          </a:p>
          <a:p>
            <a:r>
              <a:t>- What goes into the system? A standard monocular color fundus photograph.</a:t>
            </a:r>
          </a:p>
          <a:p>
            <a:r>
              <a:t>- What happens inside? The system branches into two independent deterministic pipelines: Track A isolates blood vessels using Hessian eigenanalysis, while Track B localizes the optic disc and cup using active contours and color-space decomposition.</a:t>
            </a:r>
          </a:p>
          <a:p>
            <a:r>
              <a:t>- What comes out? Binary segmentation masks, vessel density measurements, vertical Cup-to-Disc Ratio (vCDR), and complete performance confusion matrices.</a:t>
            </a:r>
          </a:p>
          <a:p>
            <a:r>
              <a:t>- What makes it unique? It is completely explainable, runs in ~500 ms on a cheap CPU, and guarantees physical anatomical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3 — Background &amp; Motivation):</a:t>
            </a:r>
          </a:p>
          <a:p>
            <a:r>
              <a:t>- Concept explanation: The retina is the only place in the living human body where both the central nervous system (optic nerve) and vascular microcirculation can be inspected directly and non-invasively.</a:t>
            </a:r>
          </a:p>
          <a:p>
            <a:r>
              <a:t>- Key anatomical definitions:</a:t>
            </a:r>
          </a:p>
          <a:p>
            <a:r>
              <a:t>  1. Fundus photograph: Monocular 2D view of the posterior retina.</a:t>
            </a:r>
          </a:p>
          <a:p>
            <a:r>
              <a:t>  2. Retinal vessels: The tree of arterioles and venules.</a:t>
            </a:r>
          </a:p>
          <a:p>
            <a:r>
              <a:t>  3. Optic disc: The full circular region of nerve fiber entry.</a:t>
            </a:r>
          </a:p>
          <a:p>
            <a:r>
              <a:t>  4. Optic cup: The pale, hollow center within the disc.</a:t>
            </a:r>
          </a:p>
          <a:p>
            <a:r>
              <a:t>- Why does engineering motivation matter? Most modern AI papers propose enormous 50-million parameter vision models that require high-end server GPUs. In real-world clinics and developing regions, portable fundus scopes run on low-power Intel or ARM processors. Our goal was to create a sub-second, zero-dependency classical image processing solution.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4 — Problem Statement):</a:t>
            </a:r>
          </a:p>
          <a:p>
            <a:r>
              <a:t>- When presenting this slide, emphasize that segmenting retinal images using classical algorithms is a notoriously difficult image processing challenge.</a:t>
            </a:r>
          </a:p>
          <a:p>
            <a:r>
              <a:t>- Key obstacles to explain to your professor:</a:t>
            </a:r>
          </a:p>
          <a:p>
            <a:r>
              <a:t>  1. Why not use Otsu thresholding? Because fundus images suffer from illumination falloff. If you pick a single threshold, you either lose all the peripheral vessels or turn the bright center into solid white noise.</a:t>
            </a:r>
          </a:p>
          <a:p>
            <a:r>
              <a:t>  2. Central light reflex: The curvature of arterial blood columns produces a specular white highlight. Second-derivative filters think this is a valley between two vessels!</a:t>
            </a:r>
          </a:p>
          <a:p>
            <a:r>
              <a:t>  3. PPA: Peripapillary atrophy looks just as bright as the optic disc. Gradient algorithms easily leak outside the true disc boundary into the atrophic retina.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5 — Objectives, Scope &amp; Contributions):</a:t>
            </a:r>
          </a:p>
          <a:p>
            <a:r>
              <a:t>- Clearly distinguish what is completed and working from future work.</a:t>
            </a:r>
          </a:p>
          <a:p>
            <a:r>
              <a:t>- This is not a proposal; the complete application, backend API, DIP pipelines, dataset loaders, and benchmark evaluations are fully built and verified in the repository.</a:t>
            </a:r>
          </a:p>
          <a:p>
            <a:r>
              <a:t>- Highlight contribution #3: Enforcing Cup subset of Disc. In pure classical methods, intensity thresholding can easily wander into adjacent bright tissue. We enforced a mathematical set intersection that guarantees anatomical validity.</a:t>
            </a:r>
          </a:p>
          <a:p>
            <a:r>
              <a:t>- Highlight contribution #5: Strict FOV evaluation. We do not count pixels outside the camera aperture, preventing artificial metric inflation.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6 — Why Classical DIP?):</a:t>
            </a:r>
          </a:p>
          <a:p>
            <a:r>
              <a:t>- Professor, if you ask 'Why didn't you just use a U-Net?', here is the direct answer:</a:t>
            </a:r>
          </a:p>
          <a:p>
            <a:r>
              <a:t>  1. A U-Net with 30 million parameters is an engineering overkill for edge embedded clinical screening devices. It requires an expensive GPU and substantial power.</a:t>
            </a:r>
          </a:p>
          <a:p>
            <a:r>
              <a:t>  2. Deep learning is non-transparent. If a neural network hallucinates a broken vessel or misses an optic cup, you cannot mathematically explain why a hidden weight fired.</a:t>
            </a:r>
          </a:p>
          <a:p>
            <a:r>
              <a:t>  3. In our classical DIP pipeline, every transformation—from the Gaussian scale sigma to the Hessian eigenvalue ratio—corresponds to a proven physical property of light and tissue.</a:t>
            </a:r>
          </a:p>
          <a:p>
            <a:r>
              <a:t>- We do not claim classical methods universally surpass deep learning on raw Dice scores, but classical methods offer unbeatable speed, zero hardware cost, deterministic reliability, and complete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7 — System Architecture):</a:t>
            </a:r>
          </a:p>
          <a:p>
            <a:r>
              <a:t>- Trace the architecture diagram from left to right:</a:t>
            </a:r>
          </a:p>
          <a:p>
            <a:r>
              <a:t>  1. An image enters through either manual user upload or the benchmark dataset selector.</a:t>
            </a:r>
          </a:p>
          <a:p>
            <a:r>
              <a:t>  2. The FOV engine isolates valid retinal tissue from the black camera surround.</a:t>
            </a:r>
          </a:p>
          <a:p>
            <a:r>
              <a:t>  3. Based on user selection, execution routes to Track A (Vessels) or Track B (Optic Disc &amp; Cup), or both.</a:t>
            </a:r>
          </a:p>
          <a:p>
            <a:r>
              <a:t>  4. The intermediate images and final binary masks are packaged.</a:t>
            </a:r>
          </a:p>
          <a:p>
            <a:r>
              <a:t>  5. If ground truth exists in the dataset manifest, the evaluation engine scores the result. If no ground truth exists, accuracy calculations are safely bypassed.</a:t>
            </a:r>
          </a:p>
          <a:p>
            <a:r>
              <a:t>  6. The frontend renders the multi-layer viewer, allowing live switching between Base Image, Mask, Blended Overlay, and interactive Split-Screen Wipe.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8 — Datasets &amp; Ground Truth):</a:t>
            </a:r>
          </a:p>
          <a:p>
            <a:r>
              <a:t>- Explain the distinction between DRIVE and Drishti-GS:</a:t>
            </a:r>
          </a:p>
          <a:p>
            <a:r>
              <a:t>  - DRIVE is the gold standard for blood vessels.</a:t>
            </a:r>
          </a:p>
          <a:p>
            <a:r>
              <a:t>  - Drishti-GS is the gold standard for optic nerve head and glaucoma assessment.</a:t>
            </a:r>
          </a:p>
          <a:p>
            <a:r>
              <a:t>- Explain scientific honesty: Why do we have 15 development and 5 held-out images for DRIVE? Because DRIVE has 20 images with expert annotations. The official test folder contains images and FOV masks, but the manual annotations are held out by the original dataset authors. We explicitly state this rather than making up test accuracy!</a:t>
            </a:r>
          </a:p>
          <a:p>
            <a:r>
              <a:t>- How is consensus derived in Drishti-GS? Four different doctors drew contours. We threshold their SoftMap at 0.50 (majority voting) to produce an authoritative reference standard.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9 — Track A Complete Workflow):</a:t>
            </a:r>
          </a:p>
          <a:p>
            <a:r>
              <a:t>- Walk through the 7 sequential stages of Track A.</a:t>
            </a:r>
          </a:p>
          <a:p>
            <a:r>
              <a:t>- Emphasize that each stage directly solves a physical problem:</a:t>
            </a:r>
          </a:p>
          <a:p>
            <a:r>
              <a:t>  - Green channel solves optical absorption.</a:t>
            </a:r>
          </a:p>
          <a:p>
            <a:r>
              <a:t>  - CLAHE solves illumination non-uniformity.</a:t>
            </a:r>
          </a:p>
          <a:p>
            <a:r>
              <a:t>  - Frangi filter solves geometric tubular shape recognition.</a:t>
            </a:r>
          </a:p>
          <a:p>
            <a:r>
              <a:t>  - Hysteresis solves topological connectivity.</a:t>
            </a:r>
          </a:p>
          <a:p>
            <a:r>
              <a:t>  - Area opening removes random background noise.</a:t>
            </a:r>
          </a:p>
          <a:p>
            <a:r>
              <a:t>- Mention that in the live UI, the user can inspect each intermediate image stage in real time along the filmstrip.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10 — Track A Preprocessing Concepts):</a:t>
            </a:r>
          </a:p>
          <a:p>
            <a:r>
              <a:t>- If your professor asks: 'Why didn't you just convert to standard grayscale using 0.299R + 0.587G + 0.114B?'</a:t>
            </a:r>
          </a:p>
          <a:p>
            <a:r>
              <a:t>  - Answer: Because adding the red channel severely washes out the vessels, and adding the blue channel introduces heavy camera noise. Extracting the pure green channel provides the cleanest physical absorption signal.</a:t>
            </a:r>
          </a:p>
          <a:p>
            <a:r>
              <a:t>- If asked: 'What does the clip limit in CLAHE actually do?'</a:t>
            </a:r>
          </a:p>
          <a:p>
            <a:r>
              <a:t>  - Answer: In standard histogram equalization, flat background areas have a tall, narrow histogram spike. Equalizing that spike creates massive contrast and blows up background sensor noise. The clip limit acts as a mathematical ceiling: any count above that ceiling is clipped and redistributed uniformly before equalizing.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11 — Frangi Vesselness &amp; Hysteresis):</a:t>
            </a:r>
          </a:p>
          <a:p>
            <a:r>
              <a:t>- Explain the Frangi formula in plain English: 'A vessel is a dark line on a bright background. Mathematically, along the line, the intensity does not change much, so the first eigenvalue lambda-1 is near zero. Across the line, intensity curves sharply, so lambda-2 is large.'</a:t>
            </a:r>
          </a:p>
          <a:p>
            <a:r>
              <a:t>- Explain sigma: 'Sigma is the scale or width of the Gaussian filter. A small sigma like 1.0 detects fine capillaries; a larger sigma like 3.0 detects the thick central vascular trunks. By taking the maximum across all scales, we capture the full tree.'</a:t>
            </a:r>
          </a:p>
          <a:p>
            <a:r>
              <a:t>- Explain hysteresis thresholding: 'Imagine lighting a fuse. The high threshold lights the fire at the main trunk. The low threshold lets the fire travel down the branches. But an isolated spark of noise out in the retina cannot survive because it is not connected to the main trunk!'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12 — Track B Anatomy &amp; vCDR):</a:t>
            </a:r>
          </a:p>
          <a:p>
            <a:r>
              <a:t>- Explain the ISNT rule: 'In ophthalmology, a healthy neuroretinal rim is thickest Inferiorly, then Superiorly, then Nasally, and thinnest Temporally. When glaucoma develops, the superior and inferior rims erode first. That is why clinicians measure the VERTICAL cup-to-disc ratio rather than the horizontal ratio.'</a:t>
            </a:r>
          </a:p>
          <a:p>
            <a:r>
              <a:t>- Explain how vCDR is calculated: We take the maximum vertical pixel span of the segmented cup mask and divide it by the maximum vertical pixel span of the segmented disc mask.</a:t>
            </a:r>
          </a:p>
          <a:p>
            <a:r>
              <a:t>- Emphasize our medical disclaimer: 'We explicitly label our output as an Experimental Glaucoma-Related Structural Indicator. It is an image processing metric to assist research, not an autonomous medical diagnosis.'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13 — Track B Complete Workflow):</a:t>
            </a:r>
          </a:p>
          <a:p>
            <a:r>
              <a:t>- Walk through the 8 stages of Track B step-by-step.</a:t>
            </a:r>
          </a:p>
          <a:p>
            <a:r>
              <a:t>- Contrast with Track A: 'In Track A, we wanted to SEE the blood vessels, so we used the green channel. In Track B, the blood vessels get in our way and slice the disc in half, so we use the RED channel and morphological closing to ERASE them!'</a:t>
            </a:r>
          </a:p>
          <a:p>
            <a:r>
              <a:t>- Highlight Active Contours: 'Rather than using a crude threshold, we deploy an active contour (snake) initialized as a circle. The snake contracts and expands like a rubber band until it snaps firmly onto the high-gradient edge of the optic disc.'</a:t>
            </a:r>
          </a:p>
          <a:p>
            <a:r>
              <a:t>- Emphasize the containment guarantee: 'The cup is strictly projected inside the disc mask so it can never leak outside into the retina.'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14 — Track B Core Concepts):</a:t>
            </a:r>
          </a:p>
          <a:p>
            <a:r>
              <a:t>- If your professor asks: 'Why did you use morphological closing instead of Gaussian blurring?'</a:t>
            </a:r>
          </a:p>
          <a:p>
            <a:r>
              <a:t>  - Answer: Gaussian blurring is a linear filter that smears edges and blurs the outer disc boundary. Morphological closing is a non-linear geometric filter that fills in dark gaps smaller than the structuring element without altering the position of the outer high-contrast disc perimeter.</a:t>
            </a:r>
          </a:p>
          <a:p>
            <a:r>
              <a:t>- If asked: 'Why CIELAB a* channel?'</a:t>
            </a:r>
          </a:p>
          <a:p>
            <a:r>
              <a:t>  - Answer: The CIELAB space models human color perception. The a* channel measures red versus green chromaticity. Because the neuroretinal rim is densely packed with capillaries, it is intensely red (high a*). The cup is an empty depression, so it lacks red color (low a*). By computing 255 minus a*, the pale cup stands out as the brightest object inside the disc.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15 — vCDR Measurement &amp; Interpretation):</a:t>
            </a:r>
          </a:p>
          <a:p>
            <a:r>
              <a:t>- Walk through the worked numerical example on the left card so the examiners see you understand the exact arithmetic.</a:t>
            </a:r>
          </a:p>
          <a:p>
            <a:r>
              <a:t>- Explain the safety guardrails: If the image is blurry and no disc is found, the system does not return '0.0' or '0.5'. It flags `fallback_triggered = True` and logs a failure advisory.</a:t>
            </a:r>
          </a:p>
          <a:p>
            <a:r>
              <a:t>- Reiterate the non-diagnostic stance: We emphasize to the review committee that this is a computer vision engineering project for quantitative feature extraction, not an unapproved medical device.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16 — Evaluation Methodology):</a:t>
            </a:r>
          </a:p>
          <a:p>
            <a:r>
              <a:t>- Be prepared to explain the mathematical difference between Dice and IoU:</a:t>
            </a:r>
          </a:p>
          <a:p>
            <a:r>
              <a:t>  - 'Dice and IoU are closely related: Dice = 2*IoU / (1 + IoU). Dice weights true positives twice, whereas IoU is the strict Intersection over Union.'</a:t>
            </a:r>
          </a:p>
          <a:p>
            <a:r>
              <a:t>- Explain the accuracy fallacy: 'If a student presents an algorithm claiming 92% accuracy on DRIVE without showing Dice, they might have detected almost zero vessels because 90% of the image is just background. That is why Dice and Sensitivity are our primary metrics.'</a:t>
            </a:r>
          </a:p>
          <a:p>
            <a:r>
              <a:t>- Explain FOV masking: 'If we did not mask out the black corners, we would gain millions of artificial True Negatives, artificially inflating both Specificity and Accuracy. We evaluate strictly inside the retina.'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17 — Scientific Fairness &amp; Protocol):</a:t>
            </a:r>
          </a:p>
          <a:p>
            <a:r>
              <a:t>- Emphasize experimental rigor: 'A common flaw in student projects is tuning parameters on the entire dataset and reporting the final score as test accuracy. That is data leakage.'</a:t>
            </a:r>
          </a:p>
          <a:p>
            <a:r>
              <a:t>- Explain our split methodology: We strictly separated Development images (used for tuning) from Held-Out images (tested once under frozen parameters).</a:t>
            </a:r>
          </a:p>
          <a:p>
            <a:r>
              <a:t>- Point out that all results shown on subsequent slides come directly from persisted CSV audit files generated on our test machine, with zero fabricated data.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18 — Track A Results):</a:t>
            </a:r>
          </a:p>
          <a:p>
            <a:r>
              <a:t>- Present the quantitative numbers clearly:</a:t>
            </a:r>
          </a:p>
          <a:p>
            <a:r>
              <a:t>  - Overall mean Dice on DRIVE is 0.6586, rising to 0.6986 on the held-out test split.</a:t>
            </a:r>
          </a:p>
          <a:p>
            <a:r>
              <a:t>  - Sensitivity is 0.7307, meaning we successfully capture nearly three-quarters of all blood vessels without any machine learning.</a:t>
            </a:r>
          </a:p>
          <a:p>
            <a:r>
              <a:t>  - Specificity is 0.9315, showing strong suppression of background noise.</a:t>
            </a:r>
          </a:p>
          <a:p>
            <a:r>
              <a:t>- Highlight the ablation study on the right card:</a:t>
            </a:r>
          </a:p>
          <a:p>
            <a:r>
              <a:t>  - Variant 3 (Global Otsu) proved that simple thresholding yields an unacceptable 0.08 Dice score, mathematically justifying why our dual hysteresis technique is mandatory.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19 — Track B Results &amp; Failure Analysis):</a:t>
            </a:r>
          </a:p>
          <a:p>
            <a:r>
              <a:t>- Walk the examiners through the contrast between Disc and Cup results:</a:t>
            </a:r>
          </a:p>
          <a:p>
            <a:r>
              <a:t>  - 'Our Optic Disc segmentation is exceptionally strong: 0.922 mean Dice and 0.946 on the held-out set. The active contour reliably captures the outer boundary.'</a:t>
            </a:r>
          </a:p>
          <a:p>
            <a:r>
              <a:t>  - 'Our Optic Cup Dice is 0.323. Why is it lower? Because the optic cup is not a 2D line; it is a 3D physical depression. In a flat 2D color image, clinicians look at vascular bendings and stereoscopic depth. Classical 2D thresholding can only detect the pale cup floor, not the sloping neuroretinal rim.'</a:t>
            </a:r>
          </a:p>
          <a:p>
            <a:r>
              <a:t>- This honesty demonstrates deep scientific maturity and an understanding of the physics and anatomy of retinal imaging.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20 — Runtime &amp; Computational Latency Profiling):</a:t>
            </a:r>
          </a:p>
          <a:p>
            <a:r>
              <a:t>- Explain the latency methodology: 'We used Python's high-resolution `time.perf_counter()` with 3 warm-up iterations and 5 timed runs per image. We timed algorithm execution only, strictly excluding disk reading and network overhead.'</a:t>
            </a:r>
          </a:p>
          <a:p>
            <a:r>
              <a:t>- Point out that Track A executes in just 535 ms on a standard laptop CPU, well under our 2000 ms target budget.</a:t>
            </a:r>
          </a:p>
          <a:p>
            <a:r>
              <a:t>- Explain where the time goes: 79% of the computation is spent in the multiscale Hessian Gaussian convolutions because computing 2nd-order derivatives at 4 different scales across hundreds of thousands of pixels is mathematically intensive. The rest of the pipeline (CLAHE, hysteresis, morphology) takes less than 20% combined.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21 — Application Workstation Demo):</a:t>
            </a:r>
          </a:p>
          <a:p>
            <a:r>
              <a:t>- Explain why we built two distinct operating modes:</a:t>
            </a:r>
          </a:p>
          <a:p>
            <a:r>
              <a:t>  - Student Mode is designed for teaching and demonstrations. It guides the user step-by-step with simple sliders, visual filmstrips, and conceptual callouts.</a:t>
            </a:r>
          </a:p>
          <a:p>
            <a:r>
              <a:t>  - Clinic Mode is designed for researchers. It exposes the raw confusion matrix, exact stage latency breakdowns, coordinate tracking HUD, and one-click CSV export.</a:t>
            </a:r>
          </a:p>
          <a:p>
            <a:r>
              <a:t>- Mention the UI design: A modern, clean white research workstation theme with an optically dark viewport canvas so retinal capillaries don't get washed out by screen glare.</a:t>
            </a:r>
          </a:p>
          <a:p>
            <a:r>
              <a:t>- Offer to switch directly into the live browser tab to demonstrate the running system.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22 — Research Summary, Limitations &amp; Ethics):</a:t>
            </a:r>
          </a:p>
          <a:p>
            <a:r>
              <a:t>- Group your takeaways into three clear pillars:</a:t>
            </a:r>
          </a:p>
          <a:p>
            <a:r>
              <a:t>  1. What is completed and proven: The dual pipelines, CPU latency, containment guarantee, and web workstation.</a:t>
            </a:r>
          </a:p>
          <a:p>
            <a:r>
              <a:t>  2. Known technical boundaries: Classical DIP cannot reconstruct 3D depth from a flat 2D photograph; high-order capillaries under 1.5 pixels have low contrast.</a:t>
            </a:r>
          </a:p>
          <a:p>
            <a:r>
              <a:t>  3. Ethical guardrails: We do not claim to replace doctors. We provide objective, transparent image measurements to assist research and triage.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23 — Conclusion &amp; Future Work):</a:t>
            </a:r>
          </a:p>
          <a:p>
            <a:r>
              <a:t>- Summarize the achievement: 'OptiFilter proves that classical image processing is not obsolete. When properly engineered with Hessian eigenanalysis, active contours, and color space modeling, it delivers deterministic, sub-second retinal biomarker analysis on standard laptop CPUs.'</a:t>
            </a:r>
          </a:p>
          <a:p>
            <a:r>
              <a:t>- Outline exciting future directions: Multi-resolution pyramids, shape-from-shading for 3D cup depth, and WebAssembly compilation for zero-server in-browser execution.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24 — References &amp; Q&amp;A):</a:t>
            </a:r>
          </a:p>
          <a:p>
            <a:r>
              <a:t>- Thank the professor and examiners for their attention and guidance throughout the project.</a:t>
            </a:r>
          </a:p>
          <a:p>
            <a:r>
              <a:t>- State that all cited papers are original, peer-reviewed publications.</a:t>
            </a:r>
          </a:p>
          <a:p>
            <a:r>
              <a:t>- Conclude: 'Thank you. I am now open to your questions on any formula, algorithm, test result, or application feature.'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32720" cy="2011680"/>
          </a:xfrm>
          <a:prstGeom prst="rect">
            <a:avLst/>
          </a:prstGeom>
          <a:noFill/>
        </p:spPr>
        <p:txBody>
          <a:bodyPr wrap="square">
            <a:spAutoFit/>
          </a:bodyPr>
          <a:lstStyle/>
          <a:p>
            <a:pPr>
              <a:defRPr sz="4000" b="1">
                <a:solidFill>
                  <a:srgbClr val="F8FAFC"/>
                </a:solidFill>
              </a:defRPr>
            </a:pPr>
            <a:r>
              <a:t>OptiFilter / MorphoVision</a:t>
            </a:r>
          </a:p>
          <a:p>
            <a:pPr>
              <a:spcBef>
                <a:spcPts val="1000"/>
              </a:spcBef>
              <a:defRPr sz="2000">
                <a:solidFill>
                  <a:srgbClr val="64FFDA"/>
                </a:solidFill>
              </a:defRPr>
            </a:pPr>
            <a:r>
              <a:t>Classical Digital Image Processing for Retinal Vessel, Optic Disc &amp; Cup Analysis</a:t>
            </a:r>
          </a:p>
          <a:p>
            <a:pPr>
              <a:spcBef>
                <a:spcPts val="600"/>
              </a:spcBef>
              <a:defRPr sz="1400">
                <a:solidFill>
                  <a:srgbClr val="94A3B8"/>
                </a:solidFill>
              </a:defRPr>
            </a:pPr>
            <a:r>
              <a:t>A Zero-ML, CPU-Centric Framework for Interpretable Biomarker Segmentation</a:t>
            </a:r>
          </a:p>
        </p:txBody>
      </p:sp>
      <p:sp>
        <p:nvSpPr>
          <p:cNvPr id="4" name="Rounded Rectangle 3"/>
          <p:cNvSpPr/>
          <p:nvPr/>
        </p:nvSpPr>
        <p:spPr>
          <a:xfrm>
            <a:off x="914400" y="3474720"/>
            <a:ext cx="10362895" cy="228600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657600"/>
            <a:ext cx="9784080" cy="1920240"/>
          </a:xfrm>
          <a:prstGeom prst="rect">
            <a:avLst/>
          </a:prstGeom>
          <a:noFill/>
        </p:spPr>
        <p:txBody>
          <a:bodyPr wrap="square">
            <a:spAutoFit/>
          </a:bodyPr>
          <a:lstStyle/>
          <a:p>
            <a:pPr>
              <a:spcAft>
                <a:spcPts val="800"/>
              </a:spcAft>
              <a:defRPr sz="1400">
                <a:solidFill>
                  <a:srgbClr val="F8FAFC"/>
                </a:solidFill>
              </a:defRPr>
            </a:pPr>
            <a:r>
              <a:rPr b="1">
                <a:solidFill>
                  <a:srgbClr val="64FFDA"/>
                </a:solidFill>
              </a:rPr>
              <a:t>Candidate Name / Student ID: </a:t>
            </a:r>
            <a:r>
              <a:rPr b="0">
                <a:solidFill>
                  <a:srgbClr val="F8FAFC"/>
                </a:solidFill>
              </a:rPr>
              <a:t>Department of Computer Science &amp; Engineering</a:t>
            </a:r>
          </a:p>
          <a:p>
            <a:pPr>
              <a:spcAft>
                <a:spcPts val="800"/>
              </a:spcAft>
              <a:defRPr sz="1400">
                <a:solidFill>
                  <a:srgbClr val="F8FAFC"/>
                </a:solidFill>
              </a:defRPr>
            </a:pPr>
            <a:r>
              <a:rPr b="1">
                <a:solidFill>
                  <a:srgbClr val="64FFDA"/>
                </a:solidFill>
              </a:rPr>
              <a:t>Project Category: </a:t>
            </a:r>
            <a:r>
              <a:rPr b="0">
                <a:solidFill>
                  <a:srgbClr val="F8FAFC"/>
                </a:solidFill>
              </a:rPr>
              <a:t>Digital Image Processing / Computer Vision / Medical Image Analysis</a:t>
            </a:r>
          </a:p>
          <a:p>
            <a:pPr>
              <a:spcAft>
                <a:spcPts val="800"/>
              </a:spcAft>
              <a:defRPr sz="1400">
                <a:solidFill>
                  <a:srgbClr val="F8FAFC"/>
                </a:solidFill>
              </a:defRPr>
            </a:pPr>
            <a:r>
              <a:rPr b="1">
                <a:solidFill>
                  <a:srgbClr val="64FFDA"/>
                </a:solidFill>
              </a:rPr>
              <a:t>Core Restriction: </a:t>
            </a:r>
            <a:r>
              <a:rPr b="0">
                <a:solidFill>
                  <a:srgbClr val="F8FAFC"/>
                </a:solidFill>
              </a:rPr>
              <a:t>100% Classical DIP — Zero Neural Networks, Zero Deep Learning, Zero ML</a:t>
            </a:r>
          </a:p>
          <a:p>
            <a:pPr>
              <a:spcAft>
                <a:spcPts val="800"/>
              </a:spcAft>
              <a:defRPr sz="1400">
                <a:solidFill>
                  <a:srgbClr val="F8FAFC"/>
                </a:solidFill>
              </a:defRPr>
            </a:pPr>
            <a:r>
              <a:rPr b="1">
                <a:solidFill>
                  <a:srgbClr val="64FFDA"/>
                </a:solidFill>
              </a:rPr>
              <a:t>Hardware Profile: </a:t>
            </a:r>
            <a:r>
              <a:rPr b="0">
                <a:solidFill>
                  <a:srgbClr val="F8FAFC"/>
                </a:solidFill>
              </a:rPr>
              <a:t>Commodity CPU Execution (sub-second latency, zero GPU requirements)</a:t>
            </a:r>
          </a:p>
          <a:p>
            <a:pPr>
              <a:spcAft>
                <a:spcPts val="800"/>
              </a:spcAft>
              <a:defRPr sz="1400">
                <a:solidFill>
                  <a:srgbClr val="F8FAFC"/>
                </a:solidFill>
              </a:defRPr>
            </a:pPr>
            <a:r>
              <a:rPr b="1">
                <a:solidFill>
                  <a:srgbClr val="64FFDA"/>
                </a:solidFill>
              </a:rPr>
              <a:t>Review Scope: </a:t>
            </a:r>
            <a:r>
              <a:rPr b="0">
                <a:solidFill>
                  <a:srgbClr val="F8FAFC"/>
                </a:solidFill>
              </a:rPr>
              <a:t>Track A (Vascular Tree) &amp; Track B (Optic Disc, Cup &amp; Vertical CDR)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Project in One Minute: Overview &amp; Dual-Track Paradigm</a:t>
            </a:r>
          </a:p>
        </p:txBody>
      </p:sp>
      <p:sp>
        <p:nvSpPr>
          <p:cNvPr id="5" name="Rounded Rectangle 4"/>
          <p:cNvSpPr/>
          <p:nvPr/>
        </p:nvSpPr>
        <p:spPr>
          <a:xfrm>
            <a:off x="731520" y="1463040"/>
            <a:ext cx="32918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2834640" cy="411480"/>
          </a:xfrm>
          <a:prstGeom prst="rect">
            <a:avLst/>
          </a:prstGeom>
          <a:noFill/>
        </p:spPr>
        <p:txBody>
          <a:bodyPr wrap="square">
            <a:spAutoFit/>
          </a:bodyPr>
          <a:lstStyle/>
          <a:p>
            <a:pPr>
              <a:defRPr sz="1200" b="1">
                <a:solidFill>
                  <a:srgbClr val="64FFDA"/>
                </a:solidFill>
              </a:defRPr>
            </a:pPr>
            <a:r>
              <a:t>1. INPUT &amp; CHALLENGES</a:t>
            </a:r>
          </a:p>
        </p:txBody>
      </p:sp>
      <p:sp>
        <p:nvSpPr>
          <p:cNvPr id="7" name="TextBox 6"/>
          <p:cNvSpPr txBox="1"/>
          <p:nvPr/>
        </p:nvSpPr>
        <p:spPr>
          <a:xfrm>
            <a:off x="914400" y="2103120"/>
            <a:ext cx="29260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Input: </a:t>
            </a:r>
            <a:r>
              <a:rPr b="0">
                <a:solidFill>
                  <a:srgbClr val="F8FAFC"/>
                </a:solidFill>
              </a:rPr>
              <a:t>Color fundus photographs from DRIVE and Drishti-GS datasets or clinical uploads.</a:t>
            </a:r>
          </a:p>
          <a:p>
            <a:pPr>
              <a:spcAft>
                <a:spcPts val="800"/>
              </a:spcAft>
              <a:defRPr sz="1300">
                <a:solidFill>
                  <a:srgbClr val="F8FAFC"/>
                </a:solidFill>
              </a:defRPr>
            </a:pPr>
            <a:r>
              <a:rPr b="1">
                <a:solidFill>
                  <a:srgbClr val="64FFDA"/>
                </a:solidFill>
              </a:rPr>
              <a:t>Anatomical Targets: </a:t>
            </a:r>
            <a:r>
              <a:rPr b="0">
                <a:solidFill>
                  <a:srgbClr val="F8FAFC"/>
                </a:solidFill>
              </a:rPr>
              <a:t>Retinal blood vessels, optic disc boundary, and optic cup excavation.</a:t>
            </a:r>
          </a:p>
          <a:p>
            <a:pPr>
              <a:spcAft>
                <a:spcPts val="800"/>
              </a:spcAft>
              <a:defRPr sz="1300">
                <a:solidFill>
                  <a:srgbClr val="F8FAFC"/>
                </a:solidFill>
              </a:defRPr>
            </a:pPr>
            <a:r>
              <a:rPr b="1">
                <a:solidFill>
                  <a:srgbClr val="64FFDA"/>
                </a:solidFill>
              </a:rPr>
              <a:t>Key Obstacles: </a:t>
            </a:r>
            <a:r>
              <a:rPr b="0">
                <a:solidFill>
                  <a:srgbClr val="F8FAFC"/>
                </a:solidFill>
              </a:rPr>
              <a:t>Uneven illumination, low contrast in thin peripheral vessels, specular reflections, and ambiguous cup pallor without 3D depth.</a:t>
            </a:r>
          </a:p>
        </p:txBody>
      </p:sp>
      <p:sp>
        <p:nvSpPr>
          <p:cNvPr id="8" name="Rounded Rectangle 7"/>
          <p:cNvSpPr/>
          <p:nvPr/>
        </p:nvSpPr>
        <p:spPr>
          <a:xfrm>
            <a:off x="4389120" y="1463040"/>
            <a:ext cx="33832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600200"/>
            <a:ext cx="2926080" cy="411480"/>
          </a:xfrm>
          <a:prstGeom prst="rect">
            <a:avLst/>
          </a:prstGeom>
          <a:noFill/>
        </p:spPr>
        <p:txBody>
          <a:bodyPr wrap="square">
            <a:spAutoFit/>
          </a:bodyPr>
          <a:lstStyle/>
          <a:p>
            <a:pPr>
              <a:defRPr sz="1200" b="1">
                <a:solidFill>
                  <a:srgbClr val="64FFDA"/>
                </a:solidFill>
              </a:defRPr>
            </a:pPr>
            <a:r>
              <a:t>2. PROCESSING ENGINE (PURE DIP)</a:t>
            </a:r>
          </a:p>
        </p:txBody>
      </p:sp>
      <p:sp>
        <p:nvSpPr>
          <p:cNvPr id="10" name="TextBox 9"/>
          <p:cNvSpPr txBox="1"/>
          <p:nvPr/>
        </p:nvSpPr>
        <p:spPr>
          <a:xfrm>
            <a:off x="4572000" y="2103120"/>
            <a:ext cx="30175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Track A (Vessels): </a:t>
            </a:r>
            <a:r>
              <a:rPr b="0">
                <a:solidFill>
                  <a:srgbClr val="F8FAFC"/>
                </a:solidFill>
              </a:rPr>
              <a:t>Green-channel extraction -&gt; CLAHE contrast enhancement -&gt; Multiscale Frangi Hessian filtering -&gt; Dual-percentile hysteresis.</a:t>
            </a:r>
          </a:p>
          <a:p>
            <a:pPr>
              <a:spcAft>
                <a:spcPts val="800"/>
              </a:spcAft>
              <a:defRPr sz="1300">
                <a:solidFill>
                  <a:srgbClr val="F8FAFC"/>
                </a:solidFill>
              </a:defRPr>
            </a:pPr>
            <a:r>
              <a:rPr b="1">
                <a:solidFill>
                  <a:srgbClr val="64FFDA"/>
                </a:solidFill>
              </a:rPr>
              <a:t>Track B (Disc/Cup): </a:t>
            </a:r>
            <a:r>
              <a:rPr b="0">
                <a:solidFill>
                  <a:srgbClr val="F8FAFC"/>
                </a:solidFill>
              </a:rPr>
              <a:t>Morphological closing in red channel -&gt; Gaussian smoothing -&gt; Active contour (snakes) -&gt; CIELAB a* cup extraction -&gt; Strict containment.</a:t>
            </a:r>
          </a:p>
          <a:p>
            <a:pPr>
              <a:spcAft>
                <a:spcPts val="800"/>
              </a:spcAft>
              <a:defRPr sz="1300">
                <a:solidFill>
                  <a:srgbClr val="F8FAFC"/>
                </a:solidFill>
              </a:defRPr>
            </a:pPr>
            <a:r>
              <a:rPr b="1">
                <a:solidFill>
                  <a:srgbClr val="64FFDA"/>
                </a:solidFill>
              </a:rPr>
              <a:t>Execution: </a:t>
            </a:r>
            <a:r>
              <a:rPr b="0">
                <a:solidFill>
                  <a:srgbClr val="F8FAFC"/>
                </a:solidFill>
              </a:rPr>
              <a:t>Sub-second CPU latency (450-550 ms) with zero GPU requirement.</a:t>
            </a:r>
          </a:p>
        </p:txBody>
      </p:sp>
      <p:sp>
        <p:nvSpPr>
          <p:cNvPr id="11" name="Rounded Rectangle 10"/>
          <p:cNvSpPr/>
          <p:nvPr/>
        </p:nvSpPr>
        <p:spPr>
          <a:xfrm>
            <a:off x="8138160" y="1463040"/>
            <a:ext cx="32918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600200"/>
            <a:ext cx="2834640" cy="411480"/>
          </a:xfrm>
          <a:prstGeom prst="rect">
            <a:avLst/>
          </a:prstGeom>
          <a:noFill/>
        </p:spPr>
        <p:txBody>
          <a:bodyPr wrap="square">
            <a:spAutoFit/>
          </a:bodyPr>
          <a:lstStyle/>
          <a:p>
            <a:pPr>
              <a:defRPr sz="1200" b="1">
                <a:solidFill>
                  <a:srgbClr val="64FFDA"/>
                </a:solidFill>
              </a:defRPr>
            </a:pPr>
            <a:r>
              <a:t>3. OUTPUTS &amp; EVALUATION</a:t>
            </a:r>
          </a:p>
        </p:txBody>
      </p:sp>
      <p:sp>
        <p:nvSpPr>
          <p:cNvPr id="13" name="TextBox 12"/>
          <p:cNvSpPr txBox="1"/>
          <p:nvPr/>
        </p:nvSpPr>
        <p:spPr>
          <a:xfrm>
            <a:off x="8321040" y="2103120"/>
            <a:ext cx="29260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Quantitative Biomarkers: </a:t>
            </a:r>
            <a:r>
              <a:rPr b="0">
                <a:solidFill>
                  <a:srgbClr val="F8FAFC"/>
                </a:solidFill>
              </a:rPr>
              <a:t>Mask-derived vessel density (%) and vertical Cup-to-Disc Ratio (vCDR).</a:t>
            </a:r>
          </a:p>
          <a:p>
            <a:pPr>
              <a:spcAft>
                <a:spcPts val="800"/>
              </a:spcAft>
              <a:defRPr sz="1300">
                <a:solidFill>
                  <a:srgbClr val="F8FAFC"/>
                </a:solidFill>
              </a:defRPr>
            </a:pPr>
            <a:r>
              <a:rPr b="1">
                <a:solidFill>
                  <a:srgbClr val="64FFDA"/>
                </a:solidFill>
              </a:rPr>
              <a:t>Honest Evaluation: </a:t>
            </a:r>
            <a:r>
              <a:rPr b="0">
                <a:solidFill>
                  <a:srgbClr val="F8FAFC"/>
                </a:solidFill>
              </a:rPr>
              <a:t>Strict Field of View (FOV) spatial masking; metrics withheld if ground truth is absent.</a:t>
            </a:r>
          </a:p>
          <a:p>
            <a:pPr>
              <a:spcAft>
                <a:spcPts val="800"/>
              </a:spcAft>
              <a:defRPr sz="1300">
                <a:solidFill>
                  <a:srgbClr val="F8FAFC"/>
                </a:solidFill>
              </a:defRPr>
            </a:pPr>
            <a:r>
              <a:rPr b="1">
                <a:solidFill>
                  <a:srgbClr val="64FFDA"/>
                </a:solidFill>
              </a:rPr>
              <a:t>Workstation Interface: </a:t>
            </a:r>
            <a:r>
              <a:rPr b="0">
                <a:solidFill>
                  <a:srgbClr val="F8FAFC"/>
                </a:solidFill>
              </a:rPr>
              <a:t>Interactive dual-mode UI (Student Mode for walkthroughs; Clinic Mode for deep audit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Background &amp; Motivation: Retinal Anatomy &amp; Biomarkers</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ANATOMICAL STRUCTURES OF INTEREST</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Retinal Fundus Image: </a:t>
            </a:r>
            <a:r>
              <a:rPr b="0">
                <a:solidFill>
                  <a:srgbClr val="F8FAFC"/>
                </a:solidFill>
              </a:rPr>
              <a:t>A photograph capturing the rear interior surface of the eye, illuminating the sensory retina, vascular arcade, and optic nerve head.</a:t>
            </a:r>
          </a:p>
          <a:p>
            <a:pPr>
              <a:spcAft>
                <a:spcPts val="800"/>
              </a:spcAft>
              <a:defRPr sz="1300">
                <a:solidFill>
                  <a:srgbClr val="F8FAFC"/>
                </a:solidFill>
              </a:defRPr>
            </a:pPr>
            <a:r>
              <a:rPr b="1">
                <a:solidFill>
                  <a:srgbClr val="64FFDA"/>
                </a:solidFill>
              </a:rPr>
              <a:t>Retinal Vessels: </a:t>
            </a:r>
            <a:r>
              <a:rPr b="0">
                <a:solidFill>
                  <a:srgbClr val="F8FAFC"/>
                </a:solidFill>
              </a:rPr>
              <a:t>The microvascular tree supplying retinal neurons. Vessel caliber thinning and density reduction serve as early indicators for hypertension, diabetes, and stroke.</a:t>
            </a:r>
          </a:p>
          <a:p>
            <a:pPr>
              <a:spcAft>
                <a:spcPts val="800"/>
              </a:spcAft>
              <a:defRPr sz="1300">
                <a:solidFill>
                  <a:srgbClr val="F8FAFC"/>
                </a:solidFill>
              </a:defRPr>
            </a:pPr>
            <a:r>
              <a:rPr b="1">
                <a:solidFill>
                  <a:srgbClr val="64FFDA"/>
                </a:solidFill>
              </a:rPr>
              <a:t>Optic Disc (ONH): </a:t>
            </a:r>
            <a:r>
              <a:rPr b="0">
                <a:solidFill>
                  <a:srgbClr val="F8FAFC"/>
                </a:solidFill>
              </a:rPr>
              <a:t>The circular anatomical boundary where ~1.2 million nerve fibers converge to form the optic nerve exiting to the visual cortex.</a:t>
            </a:r>
          </a:p>
          <a:p>
            <a:pPr>
              <a:spcAft>
                <a:spcPts val="800"/>
              </a:spcAft>
              <a:defRPr sz="1300">
                <a:solidFill>
                  <a:srgbClr val="F8FAFC"/>
                </a:solidFill>
              </a:defRPr>
            </a:pPr>
            <a:r>
              <a:rPr b="1">
                <a:solidFill>
                  <a:srgbClr val="64FFDA"/>
                </a:solidFill>
              </a:rPr>
              <a:t>Optic Cup: </a:t>
            </a:r>
            <a:r>
              <a:rPr b="0">
                <a:solidFill>
                  <a:srgbClr val="F8FAFC"/>
                </a:solidFill>
              </a:rPr>
              <a:t>The central pale depression inside the disc. In glaucoma, elevated intraocular pressure causes axonal loss, enlarging this cup excavation.</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ENGINEERING &amp; SCIENTIFIC MOTIVATION</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Accessibility in Rural Clinics: </a:t>
            </a:r>
            <a:r>
              <a:rPr b="0">
                <a:solidFill>
                  <a:srgbClr val="F8FAFC"/>
                </a:solidFill>
              </a:rPr>
              <a:t>Low-cost ophthalmic cameras in community health centers lack multi-thousand dollar GPU hardware. A lightweight CPU solution is essential.</a:t>
            </a:r>
          </a:p>
          <a:p>
            <a:pPr>
              <a:spcAft>
                <a:spcPts val="800"/>
              </a:spcAft>
              <a:defRPr sz="1300">
                <a:solidFill>
                  <a:srgbClr val="F8FAFC"/>
                </a:solidFill>
              </a:defRPr>
            </a:pPr>
            <a:r>
              <a:rPr b="1">
                <a:solidFill>
                  <a:srgbClr val="64FFDA"/>
                </a:solidFill>
              </a:rPr>
              <a:t>Mathematical Transparency: </a:t>
            </a:r>
            <a:r>
              <a:rPr b="0">
                <a:solidFill>
                  <a:srgbClr val="F8FAFC"/>
                </a:solidFill>
              </a:rPr>
              <a:t>Physicians require deterministic, auditable decisions. Classical DIP allows inspection of every filter response, gradient, and energy term.</a:t>
            </a:r>
          </a:p>
          <a:p>
            <a:pPr>
              <a:spcAft>
                <a:spcPts val="800"/>
              </a:spcAft>
              <a:defRPr sz="1300">
                <a:solidFill>
                  <a:srgbClr val="F8FAFC"/>
                </a:solidFill>
              </a:defRPr>
            </a:pPr>
            <a:r>
              <a:rPr b="1">
                <a:solidFill>
                  <a:srgbClr val="64FFDA"/>
                </a:solidFill>
              </a:rPr>
              <a:t>Screening vs Diagnosis: </a:t>
            </a:r>
            <a:r>
              <a:rPr b="0">
                <a:solidFill>
                  <a:srgbClr val="F8FAFC"/>
                </a:solidFill>
              </a:rPr>
              <a:t>Automated image processing acts as an objective screening triage tool to prioritize patient referrals, not to replace clinical judgment.</a:t>
            </a:r>
          </a:p>
          <a:p>
            <a:pPr>
              <a:spcAft>
                <a:spcPts val="800"/>
              </a:spcAft>
              <a:defRPr sz="1300">
                <a:solidFill>
                  <a:srgbClr val="F8FAFC"/>
                </a:solidFill>
              </a:defRPr>
            </a:pPr>
            <a:r>
              <a:rPr b="1">
                <a:solidFill>
                  <a:srgbClr val="64FFDA"/>
                </a:solidFill>
              </a:rPr>
              <a:t>Scientific Honesty: </a:t>
            </a:r>
            <a:r>
              <a:rPr b="0">
                <a:solidFill>
                  <a:srgbClr val="F8FAFC"/>
                </a:solidFill>
              </a:rPr>
              <a:t>Ensuring metrics are mathematically grounded and restricted to verified anatomical zones without hallucination.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Problem Statement: Key Technical &amp; Classical Vision Challenges</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IMAGE ACQUISITION &amp; OPTICAL CHALLENGES</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Illumination Non-Uniformity: </a:t>
            </a:r>
            <a:r>
              <a:rPr b="0">
                <a:solidFill>
                  <a:srgbClr val="F8FAFC"/>
                </a:solidFill>
              </a:rPr>
              <a:t>Vignetting and spherical ocular curvature cause dark, under-exposed peripheries and over-exposed macula/disc regions.</a:t>
            </a:r>
          </a:p>
          <a:p>
            <a:pPr>
              <a:spcAft>
                <a:spcPts val="800"/>
              </a:spcAft>
              <a:defRPr sz="1300">
                <a:solidFill>
                  <a:srgbClr val="F8FAFC"/>
                </a:solidFill>
              </a:defRPr>
            </a:pPr>
            <a:r>
              <a:rPr b="1">
                <a:solidFill>
                  <a:srgbClr val="64FFDA"/>
                </a:solidFill>
              </a:rPr>
              <a:t>Capillary Contrast Paucity: </a:t>
            </a:r>
            <a:r>
              <a:rPr b="0">
                <a:solidFill>
                  <a:srgbClr val="F8FAFC"/>
                </a:solidFill>
              </a:rPr>
              <a:t>High-order capillaries have widths &lt; 1.5 pixels and contrast of only 4-8 gray levels above background choroidal noise.</a:t>
            </a:r>
          </a:p>
          <a:p>
            <a:pPr>
              <a:spcAft>
                <a:spcPts val="800"/>
              </a:spcAft>
              <a:defRPr sz="1300">
                <a:solidFill>
                  <a:srgbClr val="F8FAFC"/>
                </a:solidFill>
              </a:defRPr>
            </a:pPr>
            <a:r>
              <a:rPr b="1">
                <a:solidFill>
                  <a:srgbClr val="64FFDA"/>
                </a:solidFill>
              </a:rPr>
              <a:t>Central Light Reflex: </a:t>
            </a:r>
            <a:r>
              <a:rPr b="0">
                <a:solidFill>
                  <a:srgbClr val="F8FAFC"/>
                </a:solidFill>
              </a:rPr>
              <a:t>Arteriolar vessels exhibit a bright longitudinal reflection along their center, causing naive gradient filters to detect false split double-lines.</a:t>
            </a:r>
          </a:p>
          <a:p>
            <a:pPr>
              <a:spcAft>
                <a:spcPts val="800"/>
              </a:spcAft>
              <a:defRPr sz="1300">
                <a:solidFill>
                  <a:srgbClr val="F8FAFC"/>
                </a:solidFill>
              </a:defRPr>
            </a:pPr>
            <a:r>
              <a:rPr b="1">
                <a:solidFill>
                  <a:srgbClr val="64FFDA"/>
                </a:solidFill>
              </a:rPr>
              <a:t>Peripapillary Atrophy (PPA): </a:t>
            </a:r>
            <a:r>
              <a:rPr b="0">
                <a:solidFill>
                  <a:srgbClr val="F8FAFC"/>
                </a:solidFill>
              </a:rPr>
              <a:t>Myopic and glaucomatous eyes exhibit bright scleral crescents adjacent to the disc that confuse standard boundary detection.</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ALGORITHMIC &amp; EVALUATION CHALLENGES</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2D Image vs 3D Anatomy: </a:t>
            </a:r>
            <a:r>
              <a:rPr b="0">
                <a:solidFill>
                  <a:srgbClr val="F8FAFC"/>
                </a:solidFill>
              </a:rPr>
              <a:t>The optic cup is anatomically a 3D physical excavation. In a monocular 2D fundus image, it only appears as pale discoloration without explicit depth.</a:t>
            </a:r>
          </a:p>
          <a:p>
            <a:pPr>
              <a:spcAft>
                <a:spcPts val="800"/>
              </a:spcAft>
              <a:defRPr sz="1300">
                <a:solidFill>
                  <a:srgbClr val="F8FAFC"/>
                </a:solidFill>
              </a:defRPr>
            </a:pPr>
            <a:r>
              <a:rPr b="1">
                <a:solidFill>
                  <a:srgbClr val="64FFDA"/>
                </a:solidFill>
              </a:rPr>
              <a:t>Topological Fragmentation: </a:t>
            </a:r>
            <a:r>
              <a:rPr b="0">
                <a:solidFill>
                  <a:srgbClr val="F8FAFC"/>
                </a:solidFill>
              </a:rPr>
              <a:t>Single global thresholds (e.g., Otsu) destroy vascular continuity, breaking tree structures into disconnected islands.</a:t>
            </a:r>
          </a:p>
          <a:p>
            <a:pPr>
              <a:spcAft>
                <a:spcPts val="800"/>
              </a:spcAft>
              <a:defRPr sz="1300">
                <a:solidFill>
                  <a:srgbClr val="F8FAFC"/>
                </a:solidFill>
              </a:defRPr>
            </a:pPr>
            <a:r>
              <a:rPr b="1">
                <a:solidFill>
                  <a:srgbClr val="64FFDA"/>
                </a:solidFill>
              </a:rPr>
              <a:t>Aperture Boundary Gradient Spikes: </a:t>
            </a:r>
            <a:r>
              <a:rPr b="0">
                <a:solidFill>
                  <a:srgbClr val="F8FAFC"/>
                </a:solidFill>
              </a:rPr>
              <a:t>The circular camera mask boundary induces massive artificial gradients if not strictly masked out.</a:t>
            </a:r>
          </a:p>
          <a:p>
            <a:pPr>
              <a:spcAft>
                <a:spcPts val="800"/>
              </a:spcAft>
              <a:defRPr sz="1300">
                <a:solidFill>
                  <a:srgbClr val="F8FAFC"/>
                </a:solidFill>
              </a:defRPr>
            </a:pPr>
            <a:r>
              <a:rPr b="1">
                <a:solidFill>
                  <a:srgbClr val="64FFDA"/>
                </a:solidFill>
              </a:rPr>
              <a:t>Evaluation Leakage &amp; Deception: </a:t>
            </a:r>
            <a:r>
              <a:rPr b="0">
                <a:solidFill>
                  <a:srgbClr val="F8FAFC"/>
                </a:solidFill>
              </a:rPr>
              <a:t>Reporting pixel accuracy on whole fundus images artificially inflates scores to &gt;90% simply because 90% of the image is background!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Objectives, Scope &amp; Tangible Project Contributions</a:t>
            </a:r>
          </a:p>
        </p:txBody>
      </p:sp>
      <p:sp>
        <p:nvSpPr>
          <p:cNvPr id="5" name="Rounded Rectangle 4"/>
          <p:cNvSpPr/>
          <p:nvPr/>
        </p:nvSpPr>
        <p:spPr>
          <a:xfrm>
            <a:off x="731520" y="1463040"/>
            <a:ext cx="106984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10241280" cy="411480"/>
          </a:xfrm>
          <a:prstGeom prst="rect">
            <a:avLst/>
          </a:prstGeom>
          <a:noFill/>
        </p:spPr>
        <p:txBody>
          <a:bodyPr wrap="square">
            <a:spAutoFit/>
          </a:bodyPr>
          <a:lstStyle/>
          <a:p>
            <a:pPr>
              <a:defRPr sz="1200" b="1">
                <a:solidFill>
                  <a:srgbClr val="64FFDA"/>
                </a:solidFill>
              </a:defRPr>
            </a:pPr>
            <a:r>
              <a:t>RESEARCH OBJECTIVES VS COMPLETED IMPLEMENTED SCOPE</a:t>
            </a:r>
          </a:p>
        </p:txBody>
      </p:sp>
      <p:sp>
        <p:nvSpPr>
          <p:cNvPr id="7" name="TextBox 6"/>
          <p:cNvSpPr txBox="1"/>
          <p:nvPr/>
        </p:nvSpPr>
        <p:spPr>
          <a:xfrm>
            <a:off x="1005840" y="2103120"/>
            <a:ext cx="1014984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1. Track A Vascular Pipeline: </a:t>
            </a:r>
            <a:r>
              <a:rPr b="0">
                <a:solidFill>
                  <a:srgbClr val="F8FAFC"/>
                </a:solidFill>
              </a:rPr>
              <a:t>Designed and implemented a deterministic pipeline combining green-channel extraction, CLAHE, multiscale Hessian Frangi filtering (4 scales), and dual-percentile hysteresis.</a:t>
            </a:r>
          </a:p>
          <a:p>
            <a:pPr>
              <a:spcAft>
                <a:spcPts val="800"/>
              </a:spcAft>
              <a:defRPr sz="1300">
                <a:solidFill>
                  <a:srgbClr val="F8FAFC"/>
                </a:solidFill>
              </a:defRPr>
            </a:pPr>
            <a:r>
              <a:rPr b="1">
                <a:solidFill>
                  <a:srgbClr val="64FFDA"/>
                </a:solidFill>
              </a:rPr>
              <a:t>2. Track B ONH &amp; Cup Pipeline: </a:t>
            </a:r>
            <a:r>
              <a:rPr b="0">
                <a:solidFill>
                  <a:srgbClr val="F8FAFC"/>
                </a:solidFill>
              </a:rPr>
              <a:t>Implemented resolution-adaptive morphological closing, Gaussian spatial smoothing, active contour energy minimization (snakes), and CIELAB color space partitioning.</a:t>
            </a:r>
          </a:p>
          <a:p>
            <a:pPr>
              <a:spcAft>
                <a:spcPts val="800"/>
              </a:spcAft>
              <a:defRPr sz="1300">
                <a:solidFill>
                  <a:srgbClr val="F8FAFC"/>
                </a:solidFill>
              </a:defRPr>
            </a:pPr>
            <a:r>
              <a:rPr b="1">
                <a:solidFill>
                  <a:srgbClr val="64FFDA"/>
                </a:solidFill>
              </a:rPr>
              <a:t>3. Strict Anatomical Containment: </a:t>
            </a:r>
            <a:r>
              <a:rPr b="0">
                <a:solidFill>
                  <a:srgbClr val="F8FAFC"/>
                </a:solidFill>
              </a:rPr>
              <a:t>Formulated and enforced mathematical projection ensuring Cup is strictly a subset of Disc (Cup ⊆ Disc), eliminating impossible physiological geometries.</a:t>
            </a:r>
          </a:p>
          <a:p>
            <a:pPr>
              <a:spcAft>
                <a:spcPts val="800"/>
              </a:spcAft>
              <a:defRPr sz="1300">
                <a:solidFill>
                  <a:srgbClr val="F8FAFC"/>
                </a:solidFill>
              </a:defRPr>
            </a:pPr>
            <a:r>
              <a:rPr b="1">
                <a:solidFill>
                  <a:srgbClr val="64FFDA"/>
                </a:solidFill>
              </a:rPr>
              <a:t>4. Objective Metric Extraction: </a:t>
            </a:r>
            <a:r>
              <a:rPr b="0">
                <a:solidFill>
                  <a:srgbClr val="F8FAFC"/>
                </a:solidFill>
              </a:rPr>
              <a:t>Automated extraction of vertical Cup-to-Disc Ratio (vCDR) and mask-derived retinal vascular density (%).</a:t>
            </a:r>
          </a:p>
          <a:p>
            <a:pPr>
              <a:spcAft>
                <a:spcPts val="800"/>
              </a:spcAft>
              <a:defRPr sz="1300">
                <a:solidFill>
                  <a:srgbClr val="F8FAFC"/>
                </a:solidFill>
              </a:defRPr>
            </a:pPr>
            <a:r>
              <a:rPr b="1">
                <a:solidFill>
                  <a:srgbClr val="64FFDA"/>
                </a:solidFill>
              </a:rPr>
              <a:t>5. Scientific Evaluation Protocol: </a:t>
            </a:r>
            <a:r>
              <a:rPr b="0">
                <a:solidFill>
                  <a:srgbClr val="F8FAFC"/>
                </a:solidFill>
              </a:rPr>
              <a:t>Established fixed Development vs Held-Out splits on DRIVE (N=20) and Drishti-GS (N=50), strictly evaluating within the valid circular Field of View (FOV).</a:t>
            </a:r>
          </a:p>
          <a:p>
            <a:pPr>
              <a:spcAft>
                <a:spcPts val="800"/>
              </a:spcAft>
              <a:defRPr sz="1300">
                <a:solidFill>
                  <a:srgbClr val="F8FAFC"/>
                </a:solidFill>
              </a:defRPr>
            </a:pPr>
            <a:r>
              <a:rPr b="1">
                <a:solidFill>
                  <a:srgbClr val="64FFDA"/>
                </a:solidFill>
              </a:rPr>
              <a:t>6. Controlled Ablation Studies: </a:t>
            </a:r>
            <a:r>
              <a:rPr b="0">
                <a:solidFill>
                  <a:srgbClr val="F8FAFC"/>
                </a:solidFill>
              </a:rPr>
              <a:t>Conducted isolated one-variable-at-a-time experiments to scientifically prove the empirical value of CLAHE, multiscale fusion, and color spaces.</a:t>
            </a:r>
          </a:p>
          <a:p>
            <a:pPr>
              <a:spcAft>
                <a:spcPts val="800"/>
              </a:spcAft>
              <a:defRPr sz="1300">
                <a:solidFill>
                  <a:srgbClr val="F8FAFC"/>
                </a:solidFill>
              </a:defRPr>
            </a:pPr>
            <a:r>
              <a:rPr b="1">
                <a:solidFill>
                  <a:srgbClr val="64FFDA"/>
                </a:solidFill>
              </a:rPr>
              <a:t>7. Dual-Mode Workstation UI: </a:t>
            </a:r>
            <a:r>
              <a:rPr b="0">
                <a:solidFill>
                  <a:srgbClr val="F8FAFC"/>
                </a:solidFill>
              </a:rPr>
              <a:t>Engineered an award-winning web workstation featuring Student Mode (guided visual walkthrough) and Clinic Mode (deep diagnostic telemetry &amp; confusion matrices).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Why Classical Digital Image Processing? (DIP vs ML vs DL)</a:t>
            </a:r>
          </a:p>
        </p:txBody>
      </p:sp>
      <p:sp>
        <p:nvSpPr>
          <p:cNvPr id="5" name="Rounded Rectangle 4"/>
          <p:cNvSpPr/>
          <p:nvPr/>
        </p:nvSpPr>
        <p:spPr>
          <a:xfrm>
            <a:off x="731520" y="1463040"/>
            <a:ext cx="32918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2834640" cy="411480"/>
          </a:xfrm>
          <a:prstGeom prst="rect">
            <a:avLst/>
          </a:prstGeom>
          <a:noFill/>
        </p:spPr>
        <p:txBody>
          <a:bodyPr wrap="square">
            <a:spAutoFit/>
          </a:bodyPr>
          <a:lstStyle/>
          <a:p>
            <a:pPr>
              <a:defRPr sz="1200" b="1">
                <a:solidFill>
                  <a:srgbClr val="64FFDA"/>
                </a:solidFill>
              </a:defRPr>
            </a:pPr>
            <a:r>
              <a:t>CLASSICAL DIP (OPTIFILTER)</a:t>
            </a:r>
          </a:p>
        </p:txBody>
      </p:sp>
      <p:sp>
        <p:nvSpPr>
          <p:cNvPr id="7" name="TextBox 6"/>
          <p:cNvSpPr txBox="1"/>
          <p:nvPr/>
        </p:nvSpPr>
        <p:spPr>
          <a:xfrm>
            <a:off x="914400" y="2103120"/>
            <a:ext cx="29260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Mechanism: </a:t>
            </a:r>
            <a:r>
              <a:rPr b="0">
                <a:solidFill>
                  <a:srgbClr val="F8FAFC"/>
                </a:solidFill>
              </a:rPr>
              <a:t>Explicit mathematical equations, calculus of variations, differential geometry, and morphological set theory.</a:t>
            </a:r>
          </a:p>
          <a:p>
            <a:pPr>
              <a:spcAft>
                <a:spcPts val="800"/>
              </a:spcAft>
              <a:defRPr sz="1300">
                <a:solidFill>
                  <a:srgbClr val="F8FAFC"/>
                </a:solidFill>
              </a:defRPr>
            </a:pPr>
            <a:r>
              <a:rPr b="1">
                <a:solidFill>
                  <a:srgbClr val="64FFDA"/>
                </a:solidFill>
              </a:rPr>
              <a:t>Determinism: </a:t>
            </a:r>
            <a:r>
              <a:rPr b="0">
                <a:solidFill>
                  <a:srgbClr val="F8FAFC"/>
                </a:solidFill>
              </a:rPr>
              <a:t>100% deterministic. Identical pixels always yield identical outputs. No random weight initializations.</a:t>
            </a:r>
          </a:p>
          <a:p>
            <a:pPr>
              <a:spcAft>
                <a:spcPts val="800"/>
              </a:spcAft>
              <a:defRPr sz="1300">
                <a:solidFill>
                  <a:srgbClr val="F8FAFC"/>
                </a:solidFill>
              </a:defRPr>
            </a:pPr>
            <a:r>
              <a:rPr b="1">
                <a:solidFill>
                  <a:srgbClr val="64FFDA"/>
                </a:solidFill>
              </a:rPr>
              <a:t>Compute Requirements: </a:t>
            </a:r>
            <a:r>
              <a:rPr b="0">
                <a:solidFill>
                  <a:srgbClr val="F8FAFC"/>
                </a:solidFill>
              </a:rPr>
              <a:t>Single-core or multi-core CPU. Minimal memory footprint (&lt;250 MB). Zero GPU requirement.</a:t>
            </a:r>
          </a:p>
          <a:p>
            <a:pPr>
              <a:spcAft>
                <a:spcPts val="800"/>
              </a:spcAft>
              <a:defRPr sz="1300">
                <a:solidFill>
                  <a:srgbClr val="F8FAFC"/>
                </a:solidFill>
              </a:defRPr>
            </a:pPr>
            <a:r>
              <a:rPr b="1">
                <a:solidFill>
                  <a:srgbClr val="64FFDA"/>
                </a:solidFill>
              </a:rPr>
              <a:t>Failure Inspectability: </a:t>
            </a:r>
            <a:r>
              <a:rPr b="0">
                <a:solidFill>
                  <a:srgbClr val="F8FAFC"/>
                </a:solidFill>
              </a:rPr>
              <a:t>Failures can be mathematically traced to low contrast, gradient breakdown, or threshold percentiles.</a:t>
            </a:r>
          </a:p>
        </p:txBody>
      </p:sp>
      <p:sp>
        <p:nvSpPr>
          <p:cNvPr id="8" name="Rounded Rectangle 7"/>
          <p:cNvSpPr/>
          <p:nvPr/>
        </p:nvSpPr>
        <p:spPr>
          <a:xfrm>
            <a:off x="4389120" y="1463040"/>
            <a:ext cx="33832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600200"/>
            <a:ext cx="2926080" cy="411480"/>
          </a:xfrm>
          <a:prstGeom prst="rect">
            <a:avLst/>
          </a:prstGeom>
          <a:noFill/>
        </p:spPr>
        <p:txBody>
          <a:bodyPr wrap="square">
            <a:spAutoFit/>
          </a:bodyPr>
          <a:lstStyle/>
          <a:p>
            <a:pPr>
              <a:defRPr sz="1200" b="1">
                <a:solidFill>
                  <a:srgbClr val="64FFDA"/>
                </a:solidFill>
              </a:defRPr>
            </a:pPr>
            <a:r>
              <a:t>MACHINE LEARNING (RF / SVM)</a:t>
            </a:r>
          </a:p>
        </p:txBody>
      </p:sp>
      <p:sp>
        <p:nvSpPr>
          <p:cNvPr id="10" name="TextBox 9"/>
          <p:cNvSpPr txBox="1"/>
          <p:nvPr/>
        </p:nvSpPr>
        <p:spPr>
          <a:xfrm>
            <a:off x="4572000" y="2103120"/>
            <a:ext cx="30175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Mechanism: </a:t>
            </a:r>
            <a:r>
              <a:rPr b="0">
                <a:solidFill>
                  <a:srgbClr val="F8FAFC"/>
                </a:solidFill>
              </a:rPr>
              <a:t>Manual feature engineering (Gabor, GLCM) followed by statistical classifiers.</a:t>
            </a:r>
          </a:p>
          <a:p>
            <a:pPr>
              <a:spcAft>
                <a:spcPts val="800"/>
              </a:spcAft>
              <a:defRPr sz="1300">
                <a:solidFill>
                  <a:srgbClr val="F8FAFC"/>
                </a:solidFill>
              </a:defRPr>
            </a:pPr>
            <a:r>
              <a:rPr b="1">
                <a:solidFill>
                  <a:srgbClr val="64FFDA"/>
                </a:solidFill>
              </a:rPr>
              <a:t>Data Dependence: </a:t>
            </a:r>
            <a:r>
              <a:rPr b="0">
                <a:solidFill>
                  <a:srgbClr val="F8FAFC"/>
                </a:solidFill>
              </a:rPr>
              <a:t>Requires hundreds of labeled patches. Vulnerable to class imbalance between vessel and non-vessel pixels.</a:t>
            </a:r>
          </a:p>
          <a:p>
            <a:pPr>
              <a:spcAft>
                <a:spcPts val="800"/>
              </a:spcAft>
              <a:defRPr sz="1300">
                <a:solidFill>
                  <a:srgbClr val="F8FAFC"/>
                </a:solidFill>
              </a:defRPr>
            </a:pPr>
            <a:r>
              <a:rPr b="1">
                <a:solidFill>
                  <a:srgbClr val="64FFDA"/>
                </a:solidFill>
              </a:rPr>
              <a:t>Generalization: </a:t>
            </a:r>
            <a:r>
              <a:rPr b="0">
                <a:solidFill>
                  <a:srgbClr val="F8FAFC"/>
                </a:solidFill>
              </a:rPr>
              <a:t>Suffers significant drop in performance across different retinal camera brands.</a:t>
            </a:r>
          </a:p>
          <a:p>
            <a:pPr>
              <a:spcAft>
                <a:spcPts val="800"/>
              </a:spcAft>
              <a:defRPr sz="1300">
                <a:solidFill>
                  <a:srgbClr val="F8FAFC"/>
                </a:solidFill>
              </a:defRPr>
            </a:pPr>
            <a:r>
              <a:rPr b="1">
                <a:solidFill>
                  <a:srgbClr val="64FFDA"/>
                </a:solidFill>
              </a:rPr>
              <a:t>Training Overhead: </a:t>
            </a:r>
            <a:r>
              <a:rPr b="0">
                <a:solidFill>
                  <a:srgbClr val="F8FAFC"/>
                </a:solidFill>
              </a:rPr>
              <a:t>Requires complex feature caching and iterative model fitting.</a:t>
            </a:r>
          </a:p>
        </p:txBody>
      </p:sp>
      <p:sp>
        <p:nvSpPr>
          <p:cNvPr id="11" name="Rounded Rectangle 10"/>
          <p:cNvSpPr/>
          <p:nvPr/>
        </p:nvSpPr>
        <p:spPr>
          <a:xfrm>
            <a:off x="8138160" y="1463040"/>
            <a:ext cx="32918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600200"/>
            <a:ext cx="2834640" cy="411480"/>
          </a:xfrm>
          <a:prstGeom prst="rect">
            <a:avLst/>
          </a:prstGeom>
          <a:noFill/>
        </p:spPr>
        <p:txBody>
          <a:bodyPr wrap="square">
            <a:spAutoFit/>
          </a:bodyPr>
          <a:lstStyle/>
          <a:p>
            <a:pPr>
              <a:defRPr sz="1200" b="1">
                <a:solidFill>
                  <a:srgbClr val="64FFDA"/>
                </a:solidFill>
              </a:defRPr>
            </a:pPr>
            <a:r>
              <a:t>DEEP LEARNING (U-NET / VIT)</a:t>
            </a:r>
          </a:p>
        </p:txBody>
      </p:sp>
      <p:sp>
        <p:nvSpPr>
          <p:cNvPr id="13" name="TextBox 12"/>
          <p:cNvSpPr txBox="1"/>
          <p:nvPr/>
        </p:nvSpPr>
        <p:spPr>
          <a:xfrm>
            <a:off x="8321040" y="2103120"/>
            <a:ext cx="29260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Mechanism: </a:t>
            </a:r>
            <a:r>
              <a:rPr b="0">
                <a:solidFill>
                  <a:srgbClr val="F8FAFC"/>
                </a:solidFill>
              </a:rPr>
              <a:t>End-to-end representation learning with millions of non-interpretable parameter weights.</a:t>
            </a:r>
          </a:p>
          <a:p>
            <a:pPr>
              <a:spcAft>
                <a:spcPts val="800"/>
              </a:spcAft>
              <a:defRPr sz="1300">
                <a:solidFill>
                  <a:srgbClr val="F8FAFC"/>
                </a:solidFill>
              </a:defRPr>
            </a:pPr>
            <a:r>
              <a:rPr b="1">
                <a:solidFill>
                  <a:srgbClr val="64FFDA"/>
                </a:solidFill>
              </a:rPr>
              <a:t>Hardware Burden: </a:t>
            </a:r>
            <a:r>
              <a:rPr b="0">
                <a:solidFill>
                  <a:srgbClr val="F8FAFC"/>
                </a:solidFill>
              </a:rPr>
              <a:t>High-end dedicated GPUs with gigabytes of VRAM. High electrical power consumption.</a:t>
            </a:r>
          </a:p>
          <a:p>
            <a:pPr>
              <a:spcAft>
                <a:spcPts val="800"/>
              </a:spcAft>
              <a:defRPr sz="1300">
                <a:solidFill>
                  <a:srgbClr val="F8FAFC"/>
                </a:solidFill>
              </a:defRPr>
            </a:pPr>
            <a:r>
              <a:rPr b="1">
                <a:solidFill>
                  <a:srgbClr val="64FFDA"/>
                </a:solidFill>
              </a:rPr>
              <a:t>Black-Box Nature: </a:t>
            </a:r>
            <a:r>
              <a:rPr b="0">
                <a:solidFill>
                  <a:srgbClr val="F8FAFC"/>
                </a:solidFill>
              </a:rPr>
              <a:t>Cannot verify internal representations. Vulnerable to adversarial perturbations and hallucinations.</a:t>
            </a:r>
          </a:p>
          <a:p>
            <a:pPr>
              <a:spcAft>
                <a:spcPts val="800"/>
              </a:spcAft>
              <a:defRPr sz="1300">
                <a:solidFill>
                  <a:srgbClr val="F8FAFC"/>
                </a:solidFill>
              </a:defRPr>
            </a:pPr>
            <a:r>
              <a:rPr b="1">
                <a:solidFill>
                  <a:srgbClr val="64FFDA"/>
                </a:solidFill>
              </a:rPr>
              <a:t>Data Greed: </a:t>
            </a:r>
            <a:r>
              <a:rPr b="0">
                <a:solidFill>
                  <a:srgbClr val="F8FAFC"/>
                </a:solidFill>
              </a:rPr>
              <a:t>Demands thousands of densely annotated expert segmentations.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System Architecture: End-to-End Processing &amp; Dual Pipelines</a:t>
            </a:r>
          </a:p>
        </p:txBody>
      </p:sp>
      <p:sp>
        <p:nvSpPr>
          <p:cNvPr id="5" name="Rounded Rectangle 4"/>
          <p:cNvSpPr/>
          <p:nvPr/>
        </p:nvSpPr>
        <p:spPr>
          <a:xfrm>
            <a:off x="731520" y="1463040"/>
            <a:ext cx="106984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10241280" cy="411480"/>
          </a:xfrm>
          <a:prstGeom prst="rect">
            <a:avLst/>
          </a:prstGeom>
          <a:noFill/>
        </p:spPr>
        <p:txBody>
          <a:bodyPr wrap="square">
            <a:spAutoFit/>
          </a:bodyPr>
          <a:lstStyle/>
          <a:p>
            <a:pPr>
              <a:defRPr sz="1200" b="1">
                <a:solidFill>
                  <a:srgbClr val="64FFDA"/>
                </a:solidFill>
              </a:defRPr>
            </a:pPr>
            <a:r>
              <a:t>MODULAR ARCHITECTURAL TOPOLOGY</a:t>
            </a:r>
          </a:p>
        </p:txBody>
      </p:sp>
      <p:sp>
        <p:nvSpPr>
          <p:cNvPr id="7" name="TextBox 6"/>
          <p:cNvSpPr txBox="1"/>
          <p:nvPr/>
        </p:nvSpPr>
        <p:spPr>
          <a:xfrm>
            <a:off x="1005840" y="2103120"/>
            <a:ext cx="1014984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Input Subsystem: </a:t>
            </a:r>
            <a:r>
              <a:rPr b="0">
                <a:solidFill>
                  <a:srgbClr val="F8FAFC"/>
                </a:solidFill>
              </a:rPr>
              <a:t>Accepts monocular RGB fundus photographs via manual upload (PNG/JPG/TIF) or automated dataset loaders (DRIVE &amp; Drishti-GS manifests).</a:t>
            </a:r>
          </a:p>
          <a:p>
            <a:pPr>
              <a:spcAft>
                <a:spcPts val="800"/>
              </a:spcAft>
              <a:defRPr sz="1300">
                <a:solidFill>
                  <a:srgbClr val="F8FAFC"/>
                </a:solidFill>
              </a:defRPr>
            </a:pPr>
            <a:r>
              <a:rPr b="1">
                <a:solidFill>
                  <a:srgbClr val="64FFDA"/>
                </a:solidFill>
              </a:rPr>
              <a:t>Validation &amp; FOV Engine: </a:t>
            </a:r>
            <a:r>
              <a:rPr b="0">
                <a:solidFill>
                  <a:srgbClr val="F8FAFC"/>
                </a:solidFill>
              </a:rPr>
              <a:t>Validates dimensions, normalizes bit depth, and synthesizes/validates circular Field-of-View (FOV) masks via adaptive thresholding and morphological closing.</a:t>
            </a:r>
          </a:p>
          <a:p>
            <a:pPr>
              <a:spcAft>
                <a:spcPts val="800"/>
              </a:spcAft>
              <a:defRPr sz="1300">
                <a:solidFill>
                  <a:srgbClr val="F8FAFC"/>
                </a:solidFill>
              </a:defRPr>
            </a:pPr>
            <a:r>
              <a:rPr b="1">
                <a:solidFill>
                  <a:srgbClr val="64FFDA"/>
                </a:solidFill>
              </a:rPr>
              <a:t>Track A Pipeline (Vessels): </a:t>
            </a:r>
            <a:r>
              <a:rPr b="0">
                <a:solidFill>
                  <a:srgbClr val="F8FAFC"/>
                </a:solidFill>
              </a:rPr>
              <a:t>Green-Channel Extraction -&gt; CLAHE (8x8 tiles, clip=2.0) -&gt; Multiscale Hessian Eigenanalysis (Frangi σ ∈ {1.0, 1.5, 2.0, 3.0}) -&gt; Percentile Dual Hysteresis (τ_L=75%, τ_H=92%) -&gt; Area Opening (&lt;25 px).</a:t>
            </a:r>
          </a:p>
          <a:p>
            <a:pPr>
              <a:spcAft>
                <a:spcPts val="800"/>
              </a:spcAft>
              <a:defRPr sz="1300">
                <a:solidFill>
                  <a:srgbClr val="F8FAFC"/>
                </a:solidFill>
              </a:defRPr>
            </a:pPr>
            <a:r>
              <a:rPr b="1">
                <a:solidFill>
                  <a:srgbClr val="64FFDA"/>
                </a:solidFill>
              </a:rPr>
              <a:t>Track B Pipeline (Disc &amp; Cup): </a:t>
            </a:r>
            <a:r>
              <a:rPr b="0">
                <a:solidFill>
                  <a:srgbClr val="F8FAFC"/>
                </a:solidFill>
              </a:rPr>
              <a:t>Red-Channel Refinement -&gt; Morphological Closing -&gt; Gaussian Smoothing -&gt; Centroid Localization -&gt; Active Contour (Snake) -&gt; CIELAB a* Cup Extraction -&gt; Strict Containment -&gt; vCDR.</a:t>
            </a:r>
          </a:p>
          <a:p>
            <a:pPr>
              <a:spcAft>
                <a:spcPts val="800"/>
              </a:spcAft>
              <a:defRPr sz="1300">
                <a:solidFill>
                  <a:srgbClr val="F8FAFC"/>
                </a:solidFill>
              </a:defRPr>
            </a:pPr>
            <a:r>
              <a:rPr b="1">
                <a:solidFill>
                  <a:srgbClr val="64FFDA"/>
                </a:solidFill>
              </a:rPr>
              <a:t>Evaluation Engine: </a:t>
            </a:r>
            <a:r>
              <a:rPr b="0">
                <a:solidFill>
                  <a:srgbClr val="F8FAFC"/>
                </a:solidFill>
              </a:rPr>
              <a:t>Computes spatial overlap (Dice, IoU), sensitivity, specificity, and confusion matrix against ground-truth annotations strictly within FOV.</a:t>
            </a:r>
          </a:p>
          <a:p>
            <a:pPr>
              <a:spcAft>
                <a:spcPts val="800"/>
              </a:spcAft>
              <a:defRPr sz="1300">
                <a:solidFill>
                  <a:srgbClr val="F8FAFC"/>
                </a:solidFill>
              </a:defRPr>
            </a:pPr>
            <a:r>
              <a:rPr b="1">
                <a:solidFill>
                  <a:srgbClr val="64FFDA"/>
                </a:solidFill>
              </a:rPr>
              <a:t>Presentation &amp; Workstation Layer: </a:t>
            </a:r>
            <a:r>
              <a:rPr b="0">
                <a:solidFill>
                  <a:srgbClr val="F8FAFC"/>
                </a:solidFill>
              </a:rPr>
              <a:t>React 19 + TypeScript + Vite frontend communicating via RESTful FastAPI backend with dual-mode visualization (Student vs Clinic Mode).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Datasets &amp; Ground Truth: DRIVE &amp; Drishti-GS Protocols</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DRIVE DATASET (VESSEL SEGMENTATION)</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Images &amp; Resolution: </a:t>
            </a:r>
            <a:r>
              <a:rPr b="0">
                <a:solidFill>
                  <a:srgbClr val="F8FAFC"/>
                </a:solidFill>
              </a:rPr>
              <a:t>40 fundus images (565 x 584 pixels, 8-bit RGB), captured using a Canon CR5 non-mydriatic 3CCD camera (45° FOV).</a:t>
            </a:r>
          </a:p>
          <a:p>
            <a:pPr>
              <a:spcAft>
                <a:spcPts val="800"/>
              </a:spcAft>
              <a:defRPr sz="1300">
                <a:solidFill>
                  <a:srgbClr val="F8FAFC"/>
                </a:solidFill>
              </a:defRPr>
            </a:pPr>
            <a:r>
              <a:rPr b="1">
                <a:solidFill>
                  <a:srgbClr val="64FFDA"/>
                </a:solidFill>
              </a:rPr>
              <a:t>Ground Truth Annotations: </a:t>
            </a:r>
            <a:r>
              <a:rPr b="0">
                <a:solidFill>
                  <a:srgbClr val="F8FAFC"/>
                </a:solidFill>
              </a:rPr>
              <a:t>Manual segmentations of the entire retinal vascular tree performed by two independent ophthalmology experts.</a:t>
            </a:r>
          </a:p>
          <a:p>
            <a:pPr>
              <a:spcAft>
                <a:spcPts val="800"/>
              </a:spcAft>
              <a:defRPr sz="1300">
                <a:solidFill>
                  <a:srgbClr val="F8FAFC"/>
                </a:solidFill>
              </a:defRPr>
            </a:pPr>
            <a:r>
              <a:rPr b="1">
                <a:solidFill>
                  <a:srgbClr val="64FFDA"/>
                </a:solidFill>
              </a:rPr>
              <a:t>Local Repository Protocol: </a:t>
            </a:r>
            <a:r>
              <a:rPr b="0">
                <a:solidFill>
                  <a:srgbClr val="F8FAFC"/>
                </a:solidFill>
              </a:rPr>
              <a:t>20 training images split under Seed 42 into 15 Development cases (calibrating thresholds) and 5 Held-Out cases (testing).</a:t>
            </a:r>
          </a:p>
          <a:p>
            <a:pPr>
              <a:spcAft>
                <a:spcPts val="800"/>
              </a:spcAft>
              <a:defRPr sz="1300">
                <a:solidFill>
                  <a:srgbClr val="F8FAFC"/>
                </a:solidFill>
              </a:defRPr>
            </a:pPr>
            <a:r>
              <a:rPr b="1">
                <a:solidFill>
                  <a:srgbClr val="64FFDA"/>
                </a:solidFill>
              </a:rPr>
              <a:t>Critical Fact on DRIVE Test Set: </a:t>
            </a:r>
            <a:r>
              <a:rPr b="0">
                <a:solidFill>
                  <a:srgbClr val="F8FAFC"/>
                </a:solidFill>
              </a:rPr>
              <a:t>The official 20 DRIVE test images locally contain FOV masks but lack manual 1st_manual reference masks. Thus, our quantitative accuracy is reported strictly on the annotated set!</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DRISHTI-GS DATASET (OPTIC DISC &amp; CUP)</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Images &amp; Resolution: </a:t>
            </a:r>
            <a:r>
              <a:rPr b="0">
                <a:solidFill>
                  <a:srgbClr val="F8FAFC"/>
                </a:solidFill>
              </a:rPr>
              <a:t>101 high-resolution images (~1752 x 2045 pixels) acquired at Aravind Eye Hospital, dedicated to glaucoma assessment.</a:t>
            </a:r>
          </a:p>
          <a:p>
            <a:pPr>
              <a:spcAft>
                <a:spcPts val="800"/>
              </a:spcAft>
              <a:defRPr sz="1300">
                <a:solidFill>
                  <a:srgbClr val="F8FAFC"/>
                </a:solidFill>
              </a:defRPr>
            </a:pPr>
            <a:r>
              <a:rPr b="1">
                <a:solidFill>
                  <a:srgbClr val="64FFDA"/>
                </a:solidFill>
              </a:rPr>
              <a:t>Ground Truth Annotations: </a:t>
            </a:r>
            <a:r>
              <a:rPr b="0">
                <a:solidFill>
                  <a:srgbClr val="F8FAFC"/>
                </a:solidFill>
              </a:rPr>
              <a:t>Multi-expert boundary ground truth provided as SoftMap probability contours by four expert ophthalmologists.</a:t>
            </a:r>
          </a:p>
          <a:p>
            <a:pPr>
              <a:spcAft>
                <a:spcPts val="800"/>
              </a:spcAft>
              <a:defRPr sz="1300">
                <a:solidFill>
                  <a:srgbClr val="F8FAFC"/>
                </a:solidFill>
              </a:defRPr>
            </a:pPr>
            <a:r>
              <a:rPr b="1">
                <a:solidFill>
                  <a:srgbClr val="64FFDA"/>
                </a:solidFill>
              </a:rPr>
              <a:t>Consensus Rule: </a:t>
            </a:r>
            <a:r>
              <a:rPr b="0">
                <a:solidFill>
                  <a:srgbClr val="F8FAFC"/>
                </a:solidFill>
              </a:rPr>
              <a:t>Gold-standard disc and cup binary masks generated via majority vote (probability ≥ 0.50, intensity ≥ 128).</a:t>
            </a:r>
          </a:p>
          <a:p>
            <a:pPr>
              <a:spcAft>
                <a:spcPts val="800"/>
              </a:spcAft>
              <a:defRPr sz="1300">
                <a:solidFill>
                  <a:srgbClr val="F8FAFC"/>
                </a:solidFill>
              </a:defRPr>
            </a:pPr>
            <a:r>
              <a:rPr b="1">
                <a:solidFill>
                  <a:srgbClr val="64FFDA"/>
                </a:solidFill>
              </a:rPr>
              <a:t>Split Partitioning: </a:t>
            </a:r>
            <a:r>
              <a:rPr b="0">
                <a:solidFill>
                  <a:srgbClr val="F8FAFC"/>
                </a:solidFill>
              </a:rPr>
              <a:t>50 annotated training images partitioned into 35 Development cases and 15 Held-Out validation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Track A: Complete Retinal Vessel Workflow &amp; Flowchart</a:t>
            </a:r>
          </a:p>
        </p:txBody>
      </p:sp>
      <p:sp>
        <p:nvSpPr>
          <p:cNvPr id="5" name="Rounded Rectangle 4"/>
          <p:cNvSpPr/>
          <p:nvPr/>
        </p:nvSpPr>
        <p:spPr>
          <a:xfrm>
            <a:off x="731520" y="1463040"/>
            <a:ext cx="106984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10241280" cy="411480"/>
          </a:xfrm>
          <a:prstGeom prst="rect">
            <a:avLst/>
          </a:prstGeom>
          <a:noFill/>
        </p:spPr>
        <p:txBody>
          <a:bodyPr wrap="square">
            <a:spAutoFit/>
          </a:bodyPr>
          <a:lstStyle/>
          <a:p>
            <a:pPr>
              <a:defRPr sz="1200" b="1">
                <a:solidFill>
                  <a:srgbClr val="64FFDA"/>
                </a:solidFill>
              </a:defRPr>
            </a:pPr>
            <a:r>
              <a:t>SEQUENTIAL MATHEMATICAL PIPELINE (TRACK A)</a:t>
            </a:r>
          </a:p>
        </p:txBody>
      </p:sp>
      <p:sp>
        <p:nvSpPr>
          <p:cNvPr id="7" name="TextBox 6"/>
          <p:cNvSpPr txBox="1"/>
          <p:nvPr/>
        </p:nvSpPr>
        <p:spPr>
          <a:xfrm>
            <a:off x="1005840" y="2103120"/>
            <a:ext cx="1014984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Step 1 — Field of View Masking: </a:t>
            </a:r>
            <a:r>
              <a:rPr b="0">
                <a:solidFill>
                  <a:srgbClr val="F8FAFC"/>
                </a:solidFill>
              </a:rPr>
              <a:t>Isolates the active illuminated retina (Ω_FOV) to prevent spurious boundary gradient spikes.</a:t>
            </a:r>
          </a:p>
          <a:p>
            <a:pPr>
              <a:spcAft>
                <a:spcPts val="800"/>
              </a:spcAft>
              <a:defRPr sz="1300">
                <a:solidFill>
                  <a:srgbClr val="F8FAFC"/>
                </a:solidFill>
              </a:defRPr>
            </a:pPr>
            <a:r>
              <a:rPr b="1">
                <a:solidFill>
                  <a:srgbClr val="64FFDA"/>
                </a:solidFill>
              </a:rPr>
              <a:t>Step 2 — Green Channel Extraction: </a:t>
            </a:r>
            <a:r>
              <a:rPr b="0">
                <a:solidFill>
                  <a:srgbClr val="F8FAFC"/>
                </a:solidFill>
              </a:rPr>
              <a:t>Selects the 540-570 nm optical band to maximize vessel-to-background contrast due to hemoglobin absorption.</a:t>
            </a:r>
          </a:p>
          <a:p>
            <a:pPr>
              <a:spcAft>
                <a:spcPts val="800"/>
              </a:spcAft>
              <a:defRPr sz="1300">
                <a:solidFill>
                  <a:srgbClr val="F8FAFC"/>
                </a:solidFill>
              </a:defRPr>
            </a:pPr>
            <a:r>
              <a:rPr b="1">
                <a:solidFill>
                  <a:srgbClr val="64FFDA"/>
                </a:solidFill>
              </a:rPr>
              <a:t>Step 3 — Contrast Limited Adaptive Histogram Equalization (CLAHE): </a:t>
            </a:r>
            <a:r>
              <a:rPr b="0">
                <a:solidFill>
                  <a:srgbClr val="F8FAFC"/>
                </a:solidFill>
              </a:rPr>
              <a:t>Applies localized contrast enhancement on an 8x8 grid with a clip limit β=2.0 to brighten fine peripheral vessels without noise amplification.</a:t>
            </a:r>
          </a:p>
          <a:p>
            <a:pPr>
              <a:spcAft>
                <a:spcPts val="800"/>
              </a:spcAft>
              <a:defRPr sz="1300">
                <a:solidFill>
                  <a:srgbClr val="F8FAFC"/>
                </a:solidFill>
              </a:defRPr>
            </a:pPr>
            <a:r>
              <a:rPr b="1">
                <a:solidFill>
                  <a:srgbClr val="64FFDA"/>
                </a:solidFill>
              </a:rPr>
              <a:t>Step 4 — Multiscale Hessian Eigenanalysis (Frangi Filtering): </a:t>
            </a:r>
            <a:r>
              <a:rPr b="0">
                <a:solidFill>
                  <a:srgbClr val="F8FAFC"/>
                </a:solidFill>
              </a:rPr>
              <a:t>Constructs Gaussian-smoothed second-order partial derivative matrices across σ ∈ {1.0, 1.5, 2.0, 3.0} px. Computes blobness (R_B) and structure (S) to isolate tubular ridges.</a:t>
            </a:r>
          </a:p>
          <a:p>
            <a:pPr>
              <a:spcAft>
                <a:spcPts val="800"/>
              </a:spcAft>
              <a:defRPr sz="1300">
                <a:solidFill>
                  <a:srgbClr val="F8FAFC"/>
                </a:solidFill>
              </a:defRPr>
            </a:pPr>
            <a:r>
              <a:rPr b="1">
                <a:solidFill>
                  <a:srgbClr val="64FFDA"/>
                </a:solidFill>
              </a:rPr>
              <a:t>Step 5 — Dual-Percentile Hysteresis Binarization: </a:t>
            </a:r>
            <a:r>
              <a:rPr b="0">
                <a:solidFill>
                  <a:srgbClr val="F8FAFC"/>
                </a:solidFill>
              </a:rPr>
              <a:t>Seeds confident vessel cores using a high percentile threshold (τ_H = 92%) and traces continuous branches along a low percentile threshold (τ_L = 75%).</a:t>
            </a:r>
          </a:p>
          <a:p>
            <a:pPr>
              <a:spcAft>
                <a:spcPts val="800"/>
              </a:spcAft>
              <a:defRPr sz="1300">
                <a:solidFill>
                  <a:srgbClr val="F8FAFC"/>
                </a:solidFill>
              </a:defRPr>
            </a:pPr>
            <a:r>
              <a:rPr b="1">
                <a:solidFill>
                  <a:srgbClr val="64FFDA"/>
                </a:solidFill>
              </a:rPr>
              <a:t>Step 6 — Morphological Area Opening Cleanup: </a:t>
            </a:r>
            <a:r>
              <a:rPr b="0">
                <a:solidFill>
                  <a:srgbClr val="F8FAFC"/>
                </a:solidFill>
              </a:rPr>
              <a:t>Prunes disconnected pixel clusters with area &lt; 25 pixels, removing isolated noise artifacts while preserving vascular continuity.</a:t>
            </a:r>
          </a:p>
          <a:p>
            <a:pPr>
              <a:spcAft>
                <a:spcPts val="800"/>
              </a:spcAft>
              <a:defRPr sz="1300">
                <a:solidFill>
                  <a:srgbClr val="F8FAFC"/>
                </a:solidFill>
              </a:defRPr>
            </a:pPr>
            <a:r>
              <a:rPr b="1">
                <a:solidFill>
                  <a:srgbClr val="64FFDA"/>
                </a:solidFill>
              </a:rPr>
              <a:t>Step 7 — Mask-Derived Metric Extraction: </a:t>
            </a:r>
            <a:r>
              <a:rPr b="0">
                <a:solidFill>
                  <a:srgbClr val="F8FAFC"/>
                </a:solidFill>
              </a:rPr>
              <a:t>Calculates total Retinal Vessel Density (% area) and overlays color-coded contours onto the fundus photograph.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Track A: Preprocessing Concepts — Green Channel &amp; CLAHE</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GREEN CHANNEL OPTICAL ABSORPTION</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The Physics of Hemoglobin: </a:t>
            </a:r>
            <a:r>
              <a:rPr b="0">
                <a:solidFill>
                  <a:srgbClr val="F8FAFC"/>
                </a:solidFill>
              </a:rPr>
              <a:t>Oxygenated (HbO2) and deoxygenated hemoglobin exhibit a strong optical extinction coefficient in the green wavelength range (540-570 nm).</a:t>
            </a:r>
          </a:p>
          <a:p>
            <a:pPr>
              <a:spcAft>
                <a:spcPts val="800"/>
              </a:spcAft>
              <a:defRPr sz="1300">
                <a:solidFill>
                  <a:srgbClr val="F8FAFC"/>
                </a:solidFill>
              </a:defRPr>
            </a:pPr>
            <a:r>
              <a:rPr b="1">
                <a:solidFill>
                  <a:srgbClr val="64FFDA"/>
                </a:solidFill>
              </a:rPr>
              <a:t>Spectral Comparison: </a:t>
            </a:r>
            <a:r>
              <a:rPr b="0">
                <a:solidFill>
                  <a:srgbClr val="F8FAFC"/>
                </a:solidFill>
              </a:rPr>
              <a:t/>
            </a:r>
          </a:p>
          <a:p>
            <a:pPr>
              <a:spcAft>
                <a:spcPts val="800"/>
              </a:spcAft>
              <a:defRPr sz="1300">
                <a:solidFill>
                  <a:srgbClr val="F8FAFC"/>
                </a:solidFill>
              </a:defRPr>
            </a:pPr>
            <a:r>
              <a:rPr b="1">
                <a:solidFill>
                  <a:srgbClr val="64FFDA"/>
                </a:solidFill>
              </a:rPr>
              <a:t>• Red Channel (600-700 nm): </a:t>
            </a:r>
            <a:r>
              <a:rPr b="0">
                <a:solidFill>
                  <a:srgbClr val="F8FAFC"/>
                </a:solidFill>
              </a:rPr>
              <a:t>Deeply penetrates into the choroid, reflecting off sclera and melanin; vessels appear washed out.</a:t>
            </a:r>
          </a:p>
          <a:p>
            <a:pPr>
              <a:spcAft>
                <a:spcPts val="800"/>
              </a:spcAft>
              <a:defRPr sz="1300">
                <a:solidFill>
                  <a:srgbClr val="F8FAFC"/>
                </a:solidFill>
              </a:defRPr>
            </a:pPr>
            <a:r>
              <a:rPr b="1">
                <a:solidFill>
                  <a:srgbClr val="64FFDA"/>
                </a:solidFill>
              </a:rPr>
              <a:t>• Green Channel (500-600 nm): </a:t>
            </a:r>
            <a:r>
              <a:rPr b="0">
                <a:solidFill>
                  <a:srgbClr val="F8FAFC"/>
                </a:solidFill>
              </a:rPr>
              <a:t>Vessels absorb light heavily, appearing dark on a bright orange/yellow background with maximum SNR.</a:t>
            </a:r>
          </a:p>
          <a:p>
            <a:pPr>
              <a:spcAft>
                <a:spcPts val="800"/>
              </a:spcAft>
              <a:defRPr sz="1300">
                <a:solidFill>
                  <a:srgbClr val="F8FAFC"/>
                </a:solidFill>
              </a:defRPr>
            </a:pPr>
            <a:r>
              <a:rPr b="1">
                <a:solidFill>
                  <a:srgbClr val="64FFDA"/>
                </a:solidFill>
              </a:rPr>
              <a:t>• Blue Channel (400-500 nm): </a:t>
            </a:r>
            <a:r>
              <a:rPr b="0">
                <a:solidFill>
                  <a:srgbClr val="F8FAFC"/>
                </a:solidFill>
              </a:rPr>
              <a:t>Severely scattered by the cornea and crystalline lens, resulting in noisy, poorly exposed images.</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CLAHE (CONTRAST LIMITED ADAPTIVE HIST. EQ.)</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Limitation of Global Histogram Eq.: </a:t>
            </a:r>
            <a:r>
              <a:rPr b="0">
                <a:solidFill>
                  <a:srgbClr val="F8FAFC"/>
                </a:solidFill>
              </a:rPr>
              <a:t>Global equalization assumes uniform lighting. In retinal images, it over-saturates the optic disc while plunging the periphery into darkness.</a:t>
            </a:r>
          </a:p>
          <a:p>
            <a:pPr>
              <a:spcAft>
                <a:spcPts val="800"/>
              </a:spcAft>
              <a:defRPr sz="1300">
                <a:solidFill>
                  <a:srgbClr val="F8FAFC"/>
                </a:solidFill>
              </a:defRPr>
            </a:pPr>
            <a:r>
              <a:rPr b="1">
                <a:solidFill>
                  <a:srgbClr val="64FFDA"/>
                </a:solidFill>
              </a:rPr>
              <a:t>Local Contextual Tiles: </a:t>
            </a:r>
            <a:r>
              <a:rPr b="0">
                <a:solidFill>
                  <a:srgbClr val="F8FAFC"/>
                </a:solidFill>
              </a:rPr>
              <a:t>CLAHE partitions the green image into an 8 x 8 grid of rectangular contextual regions.</a:t>
            </a:r>
          </a:p>
          <a:p>
            <a:pPr>
              <a:spcAft>
                <a:spcPts val="800"/>
              </a:spcAft>
              <a:defRPr sz="1300">
                <a:solidFill>
                  <a:srgbClr val="F8FAFC"/>
                </a:solidFill>
              </a:defRPr>
            </a:pPr>
            <a:r>
              <a:rPr b="1">
                <a:solidFill>
                  <a:srgbClr val="64FFDA"/>
                </a:solidFill>
              </a:rPr>
              <a:t>Clip Limit Mechanism (β = 2.0): </a:t>
            </a:r>
            <a:r>
              <a:rPr b="0">
                <a:solidFill>
                  <a:srgbClr val="F8FAFC"/>
                </a:solidFill>
              </a:rPr>
              <a:t>To prevent noise amplification in uniform background areas, the histogram slope is capped at clipLimit. Clipped pixels are redistributed equally across all bins before CDF mapping.</a:t>
            </a:r>
          </a:p>
          <a:p>
            <a:pPr>
              <a:spcAft>
                <a:spcPts val="800"/>
              </a:spcAft>
              <a:defRPr sz="1300">
                <a:solidFill>
                  <a:srgbClr val="F8FAFC"/>
                </a:solidFill>
              </a:defRPr>
            </a:pPr>
            <a:r>
              <a:rPr b="1">
                <a:solidFill>
                  <a:srgbClr val="64FFDA"/>
                </a:solidFill>
              </a:rPr>
              <a:t>Bilinear Interpolation: </a:t>
            </a:r>
            <a:r>
              <a:rPr b="0">
                <a:solidFill>
                  <a:srgbClr val="F8FAFC"/>
                </a:solidFill>
              </a:rPr>
              <a:t>Adjacent tile boundaries are smoothly blended via bilinear interpolation to eliminate artificial boundary grid lines.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Track A: Multiscale Frangi Vesselness &amp; Hysteresis Filtering</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MULTISCALE HESSIAN EIGENANALYSIS (FRANGI)</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The Hessian Matrix (H_σ): </a:t>
            </a:r>
            <a:r>
              <a:rPr b="0">
                <a:solidFill>
                  <a:srgbClr val="F8FAFC"/>
                </a:solidFill>
              </a:rPr>
              <a:t>A 2x2 matrix of second partial spatial derivatives convolved with a Gaussian kernel G(x, y; σ).</a:t>
            </a:r>
          </a:p>
          <a:p>
            <a:pPr>
              <a:spcAft>
                <a:spcPts val="800"/>
              </a:spcAft>
              <a:defRPr sz="1300">
                <a:solidFill>
                  <a:srgbClr val="F8FAFC"/>
                </a:solidFill>
              </a:defRPr>
            </a:pPr>
            <a:r>
              <a:rPr b="1">
                <a:solidFill>
                  <a:srgbClr val="64FFDA"/>
                </a:solidFill>
              </a:rPr>
              <a:t>Eigenvalue Geometry (|λ_1| ≤ |λ_2|): </a:t>
            </a:r>
            <a:r>
              <a:rPr b="0">
                <a:solidFill>
                  <a:srgbClr val="F8FAFC"/>
                </a:solidFill>
              </a:rPr>
              <a:t>λ_1 measures curvature along the vessel (nearly flat, ~0). λ_2 measures cross-sectional curvature (steep ridge).</a:t>
            </a:r>
          </a:p>
          <a:p>
            <a:pPr>
              <a:spcAft>
                <a:spcPts val="800"/>
              </a:spcAft>
              <a:defRPr sz="1300">
                <a:solidFill>
                  <a:srgbClr val="F8FAFC"/>
                </a:solidFill>
              </a:defRPr>
            </a:pPr>
            <a:r>
              <a:rPr b="1">
                <a:solidFill>
                  <a:srgbClr val="64FFDA"/>
                </a:solidFill>
              </a:rPr>
              <a:t>Blobness Ratio (R_B): </a:t>
            </a:r>
            <a:r>
              <a:rPr b="0">
                <a:solidFill>
                  <a:srgbClr val="F8FAFC"/>
                </a:solidFill>
              </a:rPr>
              <a:t>R_B = |λ_1| / |λ_2|. For tubular lines, R_B -&gt; 0. For circular blobs, R_B -&gt; 1.</a:t>
            </a:r>
          </a:p>
          <a:p>
            <a:pPr>
              <a:spcAft>
                <a:spcPts val="800"/>
              </a:spcAft>
              <a:defRPr sz="1300">
                <a:solidFill>
                  <a:srgbClr val="F8FAFC"/>
                </a:solidFill>
              </a:defRPr>
            </a:pPr>
            <a:r>
              <a:rPr b="1">
                <a:solidFill>
                  <a:srgbClr val="64FFDA"/>
                </a:solidFill>
              </a:rPr>
              <a:t>Second-Order Structure (S): </a:t>
            </a:r>
            <a:r>
              <a:rPr b="0">
                <a:solidFill>
                  <a:srgbClr val="F8FAFC"/>
                </a:solidFill>
              </a:rPr>
              <a:t>S = sqrt(λ_1^2 + λ_2^2). Measures gradient energy, separating real vessels from flat background.</a:t>
            </a:r>
          </a:p>
          <a:p>
            <a:pPr>
              <a:spcAft>
                <a:spcPts val="800"/>
              </a:spcAft>
              <a:defRPr sz="1300">
                <a:solidFill>
                  <a:srgbClr val="F8FAFC"/>
                </a:solidFill>
              </a:defRPr>
            </a:pPr>
            <a:r>
              <a:rPr b="1">
                <a:solidFill>
                  <a:srgbClr val="64FFDA"/>
                </a:solidFill>
              </a:rPr>
              <a:t>Multiscale Integration: </a:t>
            </a:r>
            <a:r>
              <a:rPr b="0">
                <a:solidFill>
                  <a:srgbClr val="F8FAFC"/>
                </a:solidFill>
              </a:rPr>
              <a:t>Evaluated across σ ∈ {1.0, 1.5, 2.0, 3.0} px. Maximum projection retains both fine capillaries and thick primary trunks.</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DUAL-PERCENTILE HYSTERESIS THRESHOLDING</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Why Otsu Fails (Dice 0.0816): </a:t>
            </a:r>
            <a:r>
              <a:rPr b="0">
                <a:solidFill>
                  <a:srgbClr val="F8FAFC"/>
                </a:solidFill>
              </a:rPr>
              <a:t>Otsu chooses a single cutoff that severs low-contrast vessels and creates disconnected vascular noise.</a:t>
            </a:r>
          </a:p>
          <a:p>
            <a:pPr>
              <a:spcAft>
                <a:spcPts val="800"/>
              </a:spcAft>
              <a:defRPr sz="1300">
                <a:solidFill>
                  <a:srgbClr val="F8FAFC"/>
                </a:solidFill>
              </a:defRPr>
            </a:pPr>
            <a:r>
              <a:rPr b="1">
                <a:solidFill>
                  <a:srgbClr val="64FFDA"/>
                </a:solidFill>
              </a:rPr>
              <a:t>High Threshold (τ_H = 92nd percentile): </a:t>
            </a:r>
            <a:r>
              <a:rPr b="0">
                <a:solidFill>
                  <a:srgbClr val="F8FAFC"/>
                </a:solidFill>
              </a:rPr>
              <a:t>Identifies highly confident vessel cores where Frangi response is unequivocally strong.</a:t>
            </a:r>
          </a:p>
          <a:p>
            <a:pPr>
              <a:spcAft>
                <a:spcPts val="800"/>
              </a:spcAft>
              <a:defRPr sz="1300">
                <a:solidFill>
                  <a:srgbClr val="F8FAFC"/>
                </a:solidFill>
              </a:defRPr>
            </a:pPr>
            <a:r>
              <a:rPr b="1">
                <a:solidFill>
                  <a:srgbClr val="64FFDA"/>
                </a:solidFill>
              </a:rPr>
              <a:t>Low Threshold (τ_L = 75th percentile): </a:t>
            </a:r>
            <a:r>
              <a:rPr b="0">
                <a:solidFill>
                  <a:srgbClr val="F8FAFC"/>
                </a:solidFill>
              </a:rPr>
              <a:t>Identifies candidate vessel pixels. Only candidates connected to a high-threshold core pixel are retained.</a:t>
            </a:r>
          </a:p>
          <a:p>
            <a:pPr>
              <a:spcAft>
                <a:spcPts val="800"/>
              </a:spcAft>
              <a:defRPr sz="1300">
                <a:solidFill>
                  <a:srgbClr val="F8FAFC"/>
                </a:solidFill>
              </a:defRPr>
            </a:pPr>
            <a:r>
              <a:rPr b="1">
                <a:solidFill>
                  <a:srgbClr val="64FFDA"/>
                </a:solidFill>
              </a:rPr>
              <a:t>Area Opening Cleanup: </a:t>
            </a:r>
            <a:r>
              <a:rPr b="0">
                <a:solidFill>
                  <a:srgbClr val="F8FAFC"/>
                </a:solidFill>
              </a:rPr>
              <a:t>Connected components with area &lt; 25 pixels are eliminated as noise, preserving continuous vascular topology.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Track B: Optic Disc &amp; Cup Anatomy and the vCDR Biomarker</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ANATOMICAL DEFINITIONS (TRACK B)</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Optic Nerve Head (Optic Disc): </a:t>
            </a:r>
            <a:r>
              <a:rPr b="0">
                <a:solidFill>
                  <a:srgbClr val="F8FAFC"/>
                </a:solidFill>
              </a:rPr>
              <a:t>The anatomical opening where retinal ganglion cell axons converge into the optic nerve. Appears as a bright circular/elliptical zone in the nasal retina.</a:t>
            </a:r>
          </a:p>
          <a:p>
            <a:pPr>
              <a:spcAft>
                <a:spcPts val="800"/>
              </a:spcAft>
              <a:defRPr sz="1300">
                <a:solidFill>
                  <a:srgbClr val="F8FAFC"/>
                </a:solidFill>
              </a:defRPr>
            </a:pPr>
            <a:r>
              <a:rPr b="1">
                <a:solidFill>
                  <a:srgbClr val="64FFDA"/>
                </a:solidFill>
              </a:rPr>
              <a:t>Neuroretinal Rim: </a:t>
            </a:r>
            <a:r>
              <a:rPr b="0">
                <a:solidFill>
                  <a:srgbClr val="F8FAFC"/>
                </a:solidFill>
              </a:rPr>
              <a:t>The neural tissue lying between the outer disc boundary and the inner cup margin, appearing pinkish/orange due to dense micro-capillaries.</a:t>
            </a:r>
          </a:p>
          <a:p>
            <a:pPr>
              <a:spcAft>
                <a:spcPts val="800"/>
              </a:spcAft>
              <a:defRPr sz="1300">
                <a:solidFill>
                  <a:srgbClr val="F8FAFC"/>
                </a:solidFill>
              </a:defRPr>
            </a:pPr>
            <a:r>
              <a:rPr b="1">
                <a:solidFill>
                  <a:srgbClr val="64FFDA"/>
                </a:solidFill>
              </a:rPr>
              <a:t>Physiological Optic Cup: </a:t>
            </a:r>
            <a:r>
              <a:rPr b="0">
                <a:solidFill>
                  <a:srgbClr val="F8FAFC"/>
                </a:solidFill>
              </a:rPr>
              <a:t>The central white/yellow excavation devoid of nerve tissue, representing the depression through which retinal vessels emerge.</a:t>
            </a:r>
          </a:p>
          <a:p>
            <a:pPr>
              <a:spcAft>
                <a:spcPts val="800"/>
              </a:spcAft>
              <a:defRPr sz="1300">
                <a:solidFill>
                  <a:srgbClr val="F8FAFC"/>
                </a:solidFill>
              </a:defRPr>
            </a:pPr>
            <a:r>
              <a:rPr b="1">
                <a:solidFill>
                  <a:srgbClr val="64FFDA"/>
                </a:solidFill>
              </a:rPr>
              <a:t>Clinical Significance: </a:t>
            </a:r>
            <a:r>
              <a:rPr b="0">
                <a:solidFill>
                  <a:srgbClr val="F8FAFC"/>
                </a:solidFill>
              </a:rPr>
              <a:t>In glaucoma, intraocular pressure leads to progressive death of retinal nerve fibers, thinning the neuroretinal rim and enlarging the cup.</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VERTICAL CUP-TO-DISC RATIO (VCDR)</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vCDR Formulation: </a:t>
            </a:r>
            <a:r>
              <a:rPr b="0">
                <a:solidFill>
                  <a:srgbClr val="F8FAFC"/>
                </a:solidFill>
              </a:rPr>
              <a:t>vCDR = D_cup(vertical) / D_disc(vertical)</a:t>
            </a:r>
          </a:p>
          <a:p>
            <a:pPr>
              <a:spcAft>
                <a:spcPts val="800"/>
              </a:spcAft>
              <a:defRPr sz="1300">
                <a:solidFill>
                  <a:srgbClr val="F8FAFC"/>
                </a:solidFill>
              </a:defRPr>
            </a:pPr>
            <a:r>
              <a:rPr b="1">
                <a:solidFill>
                  <a:srgbClr val="64FFDA"/>
                </a:solidFill>
              </a:rPr>
              <a:t>Why Vertical?: </a:t>
            </a:r>
            <a:r>
              <a:rPr b="0">
                <a:solidFill>
                  <a:srgbClr val="F8FAFC"/>
                </a:solidFill>
              </a:rPr>
              <a:t>Glaucomatous axonal loss follows the ISNT rule (Inferior &gt; Superior &gt; Nasal &gt; Temporal). Neural rim loss occurs fastest along the vertical axis (superior and inferior poles).</a:t>
            </a:r>
          </a:p>
          <a:p>
            <a:pPr>
              <a:spcAft>
                <a:spcPts val="800"/>
              </a:spcAft>
              <a:defRPr sz="1300">
                <a:solidFill>
                  <a:srgbClr val="F8FAFC"/>
                </a:solidFill>
              </a:defRPr>
            </a:pPr>
            <a:r>
              <a:rPr b="1">
                <a:solidFill>
                  <a:srgbClr val="64FFDA"/>
                </a:solidFill>
              </a:rPr>
              <a:t>Clinical Reference Intervals (Indicative): </a:t>
            </a:r>
            <a:r>
              <a:rPr b="0">
                <a:solidFill>
                  <a:srgbClr val="F8FAFC"/>
                </a:solidFill>
              </a:rPr>
              <a:t/>
            </a:r>
          </a:p>
          <a:p>
            <a:pPr>
              <a:spcAft>
                <a:spcPts val="800"/>
              </a:spcAft>
              <a:defRPr sz="1300">
                <a:solidFill>
                  <a:srgbClr val="F8FAFC"/>
                </a:solidFill>
              </a:defRPr>
            </a:pPr>
            <a:r>
              <a:rPr b="1">
                <a:solidFill>
                  <a:srgbClr val="64FFDA"/>
                </a:solidFill>
              </a:rPr>
              <a:t>• Normal Physiological Cup: </a:t>
            </a:r>
            <a:r>
              <a:rPr b="0">
                <a:solidFill>
                  <a:srgbClr val="F8FAFC"/>
                </a:solidFill>
              </a:rPr>
              <a:t>vCDR ≤ 0.50</a:t>
            </a:r>
          </a:p>
          <a:p>
            <a:pPr>
              <a:spcAft>
                <a:spcPts val="800"/>
              </a:spcAft>
              <a:defRPr sz="1300">
                <a:solidFill>
                  <a:srgbClr val="F8FAFC"/>
                </a:solidFill>
              </a:defRPr>
            </a:pPr>
            <a:r>
              <a:rPr b="1">
                <a:solidFill>
                  <a:srgbClr val="64FFDA"/>
                </a:solidFill>
              </a:rPr>
              <a:t>• Borderline / Suspect: </a:t>
            </a:r>
            <a:r>
              <a:rPr b="0">
                <a:solidFill>
                  <a:srgbClr val="F8FAFC"/>
                </a:solidFill>
              </a:rPr>
              <a:t>0.50 &lt; vCDR ≤ 0.65</a:t>
            </a:r>
          </a:p>
          <a:p>
            <a:pPr>
              <a:spcAft>
                <a:spcPts val="800"/>
              </a:spcAft>
              <a:defRPr sz="1300">
                <a:solidFill>
                  <a:srgbClr val="F8FAFC"/>
                </a:solidFill>
              </a:defRPr>
            </a:pPr>
            <a:r>
              <a:rPr b="1">
                <a:solidFill>
                  <a:srgbClr val="64FFDA"/>
                </a:solidFill>
              </a:rPr>
              <a:t>• Glaucomatous Structural Indicator: </a:t>
            </a:r>
            <a:r>
              <a:rPr b="0">
                <a:solidFill>
                  <a:srgbClr val="F8FAFC"/>
                </a:solidFill>
              </a:rPr>
              <a:t>vCDR &gt; 0.65</a:t>
            </a:r>
          </a:p>
          <a:p>
            <a:pPr>
              <a:spcAft>
                <a:spcPts val="800"/>
              </a:spcAft>
              <a:defRPr sz="1300">
                <a:solidFill>
                  <a:srgbClr val="F8FAFC"/>
                </a:solidFill>
              </a:defRPr>
            </a:pPr>
            <a:r>
              <a:rPr b="1">
                <a:solidFill>
                  <a:srgbClr val="64FFDA"/>
                </a:solidFill>
              </a:rPr>
              <a:t>Important Note: </a:t>
            </a:r>
            <a:r>
              <a:rPr b="0">
                <a:solidFill>
                  <a:srgbClr val="F8FAFC"/>
                </a:solidFill>
              </a:rPr>
              <a:t>In OptiFilter, vCDR is an experimental image biomarker, not a clinical diagnosis.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Track B: Complete Optic Disc &amp; Cup Segmentation Workflow</a:t>
            </a:r>
          </a:p>
        </p:txBody>
      </p:sp>
      <p:sp>
        <p:nvSpPr>
          <p:cNvPr id="5" name="Rounded Rectangle 4"/>
          <p:cNvSpPr/>
          <p:nvPr/>
        </p:nvSpPr>
        <p:spPr>
          <a:xfrm>
            <a:off x="731520" y="1463040"/>
            <a:ext cx="106984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10241280" cy="411480"/>
          </a:xfrm>
          <a:prstGeom prst="rect">
            <a:avLst/>
          </a:prstGeom>
          <a:noFill/>
        </p:spPr>
        <p:txBody>
          <a:bodyPr wrap="square">
            <a:spAutoFit/>
          </a:bodyPr>
          <a:lstStyle/>
          <a:p>
            <a:pPr>
              <a:defRPr sz="1200" b="1">
                <a:solidFill>
                  <a:srgbClr val="64FFDA"/>
                </a:solidFill>
              </a:defRPr>
            </a:pPr>
            <a:r>
              <a:t>SEQUENTIAL MATHEMATICAL PIPELINE (TRACK B)</a:t>
            </a:r>
          </a:p>
        </p:txBody>
      </p:sp>
      <p:sp>
        <p:nvSpPr>
          <p:cNvPr id="7" name="TextBox 6"/>
          <p:cNvSpPr txBox="1"/>
          <p:nvPr/>
        </p:nvSpPr>
        <p:spPr>
          <a:xfrm>
            <a:off x="1005840" y="2103120"/>
            <a:ext cx="1014984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Step 1 — Red Channel Preprocessing: </a:t>
            </a:r>
            <a:r>
              <a:rPr b="0">
                <a:solidFill>
                  <a:srgbClr val="F8FAFC"/>
                </a:solidFill>
              </a:rPr>
              <a:t>Extracts the red channel where blood vessel contrast is minimized, preventing vessels from fragmenting the disc.</a:t>
            </a:r>
          </a:p>
          <a:p>
            <a:pPr>
              <a:spcAft>
                <a:spcPts val="800"/>
              </a:spcAft>
              <a:defRPr sz="1300">
                <a:solidFill>
                  <a:srgbClr val="F8FAFC"/>
                </a:solidFill>
              </a:defRPr>
            </a:pPr>
            <a:r>
              <a:rPr b="1">
                <a:solidFill>
                  <a:srgbClr val="64FFDA"/>
                </a:solidFill>
              </a:rPr>
              <a:t>Step 2 — Adaptive Morphological Closing: </a:t>
            </a:r>
            <a:r>
              <a:rPr b="0">
                <a:solidFill>
                  <a:srgbClr val="F8FAFC"/>
                </a:solidFill>
              </a:rPr>
              <a:t>Applies closing with a disk structuring element (radius = 0.025 * min(H, W)) to bridge and fill the central vascular tree traversing the nerve head.</a:t>
            </a:r>
          </a:p>
          <a:p>
            <a:pPr>
              <a:spcAft>
                <a:spcPts val="800"/>
              </a:spcAft>
              <a:defRPr sz="1300">
                <a:solidFill>
                  <a:srgbClr val="F8FAFC"/>
                </a:solidFill>
              </a:defRPr>
            </a:pPr>
            <a:r>
              <a:rPr b="1">
                <a:solidFill>
                  <a:srgbClr val="64FFDA"/>
                </a:solidFill>
              </a:rPr>
              <a:t>Step 3 — Isotropic Gaussian Smoothing: </a:t>
            </a:r>
            <a:r>
              <a:rPr b="0">
                <a:solidFill>
                  <a:srgbClr val="F8FAFC"/>
                </a:solidFill>
              </a:rPr>
              <a:t>Convolves with an isotropic Gaussian kernel (σ = 0.020 * min(H, W)) to suppress local texture and create an unequivocal luminance peak at the disc centroid.</a:t>
            </a:r>
          </a:p>
          <a:p>
            <a:pPr>
              <a:spcAft>
                <a:spcPts val="800"/>
              </a:spcAft>
              <a:defRPr sz="1300">
                <a:solidFill>
                  <a:srgbClr val="F8FAFC"/>
                </a:solidFill>
              </a:defRPr>
            </a:pPr>
            <a:r>
              <a:rPr b="1">
                <a:solidFill>
                  <a:srgbClr val="64FFDA"/>
                </a:solidFill>
              </a:rPr>
              <a:t>Step 4 — Spatial Centroid Detection: </a:t>
            </a:r>
            <a:r>
              <a:rPr b="0">
                <a:solidFill>
                  <a:srgbClr val="F8FAFC"/>
                </a:solidFill>
              </a:rPr>
              <a:t>Identifies the candidate coordinates (x_c, y_c) via argmax within the eroded valid FOV interior domain.</a:t>
            </a:r>
          </a:p>
          <a:p>
            <a:pPr>
              <a:spcAft>
                <a:spcPts val="800"/>
              </a:spcAft>
              <a:defRPr sz="1300">
                <a:solidFill>
                  <a:srgbClr val="F8FAFC"/>
                </a:solidFill>
              </a:defRPr>
            </a:pPr>
            <a:r>
              <a:rPr b="1">
                <a:solidFill>
                  <a:srgbClr val="64FFDA"/>
                </a:solidFill>
              </a:rPr>
              <a:t>Step 5 — Active Contour (Snake) Optimization: </a:t>
            </a:r>
            <a:r>
              <a:rPr b="0">
                <a:solidFill>
                  <a:srgbClr val="F8FAFC"/>
                </a:solidFill>
              </a:rPr>
              <a:t>Initializes a circular contour (radius = 0.08 * min(H, W)) and iteratively minimizes continuity, curvature, and image edge energy toward the true anatomical boundary.</a:t>
            </a:r>
          </a:p>
          <a:p>
            <a:pPr>
              <a:spcAft>
                <a:spcPts val="800"/>
              </a:spcAft>
              <a:defRPr sz="1300">
                <a:solidFill>
                  <a:srgbClr val="F8FAFC"/>
                </a:solidFill>
              </a:defRPr>
            </a:pPr>
            <a:r>
              <a:rPr b="1">
                <a:solidFill>
                  <a:srgbClr val="64FFDA"/>
                </a:solidFill>
              </a:rPr>
              <a:t>Step 6 — CIELAB Color Space Cup Extraction: </a:t>
            </a:r>
            <a:r>
              <a:rPr b="0">
                <a:solidFill>
                  <a:srgbClr val="F8FAFC"/>
                </a:solidFill>
              </a:rPr>
              <a:t>Converts the disc ROI to CIELAB and extracts the inverted a* channel (255 - a*), isolating the pale, yellowish cup from the pinkish neuroretinal rim via Otsu thresholding.</a:t>
            </a:r>
          </a:p>
          <a:p>
            <a:pPr>
              <a:spcAft>
                <a:spcPts val="800"/>
              </a:spcAft>
              <a:defRPr sz="1300">
                <a:solidFill>
                  <a:srgbClr val="F8FAFC"/>
                </a:solidFill>
              </a:defRPr>
            </a:pPr>
            <a:r>
              <a:rPr b="1">
                <a:solidFill>
                  <a:srgbClr val="64FFDA"/>
                </a:solidFill>
              </a:rPr>
              <a:t>Step 7 — Strict Anatomical Containment Projection: </a:t>
            </a:r>
            <a:r>
              <a:rPr b="0">
                <a:solidFill>
                  <a:srgbClr val="F8FAFC"/>
                </a:solidFill>
              </a:rPr>
              <a:t>Enforces the set intersection M_cup = M_cand ∩ M_disc, ensuring 100% geometric containment (Cup ⊆ Disc).</a:t>
            </a:r>
          </a:p>
          <a:p>
            <a:pPr>
              <a:spcAft>
                <a:spcPts val="800"/>
              </a:spcAft>
              <a:defRPr sz="1300">
                <a:solidFill>
                  <a:srgbClr val="F8FAFC"/>
                </a:solidFill>
              </a:defRPr>
            </a:pPr>
            <a:r>
              <a:rPr b="1">
                <a:solidFill>
                  <a:srgbClr val="64FFDA"/>
                </a:solidFill>
              </a:rPr>
              <a:t>Step 8 — Vertical Diameter &amp; vCDR Calculation: </a:t>
            </a:r>
            <a:r>
              <a:rPr b="0">
                <a:solidFill>
                  <a:srgbClr val="F8FAFC"/>
                </a:solidFill>
              </a:rPr>
              <a:t>Measures vertical pixel spans D_cup and D_disc to compute vCDR and generate dual-contour visual overlays.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Track B: Core Concepts — Morphological Closing &amp; CIELAB Space</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ADAPTIVE MORPHOLOGICAL CLOSING</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The Problem: </a:t>
            </a:r>
            <a:r>
              <a:rPr b="0">
                <a:solidFill>
                  <a:srgbClr val="F8FAFC"/>
                </a:solidFill>
              </a:rPr>
              <a:t>Major central retinal vessels enter the eye directly through the center of the optic disc, creating dark vertical stripes that break up the disc plateau.</a:t>
            </a:r>
          </a:p>
          <a:p>
            <a:pPr>
              <a:spcAft>
                <a:spcPts val="800"/>
              </a:spcAft>
              <a:defRPr sz="1300">
                <a:solidFill>
                  <a:srgbClr val="F8FAFC"/>
                </a:solidFill>
              </a:defRPr>
            </a:pPr>
            <a:r>
              <a:rPr b="1">
                <a:solidFill>
                  <a:srgbClr val="64FFDA"/>
                </a:solidFill>
              </a:rPr>
              <a:t>Mathematical Formulation: </a:t>
            </a:r>
            <a:r>
              <a:rPr b="0">
                <a:solidFill>
                  <a:srgbClr val="F8FAFC"/>
                </a:solidFill>
              </a:rPr>
              <a:t>I • B = (I ⊕ B) ⊖ B (Dilation followed by erosion).</a:t>
            </a:r>
          </a:p>
          <a:p>
            <a:pPr>
              <a:spcAft>
                <a:spcPts val="800"/>
              </a:spcAft>
              <a:defRPr sz="1300">
                <a:solidFill>
                  <a:srgbClr val="F8FAFC"/>
                </a:solidFill>
              </a:defRPr>
            </a:pPr>
            <a:r>
              <a:rPr b="1">
                <a:solidFill>
                  <a:srgbClr val="64FFDA"/>
                </a:solidFill>
              </a:rPr>
              <a:t>Structuring Element (B): </a:t>
            </a:r>
            <a:r>
              <a:rPr b="0">
                <a:solidFill>
                  <a:srgbClr val="F8FAFC"/>
                </a:solidFill>
              </a:rPr>
              <a:t>A flat circular disk with radius r_close = 0.025 * min(H, W), dynamically scaled to image resolution.</a:t>
            </a:r>
          </a:p>
          <a:p>
            <a:pPr>
              <a:spcAft>
                <a:spcPts val="800"/>
              </a:spcAft>
              <a:defRPr sz="1300">
                <a:solidFill>
                  <a:srgbClr val="F8FAFC"/>
                </a:solidFill>
              </a:defRPr>
            </a:pPr>
            <a:r>
              <a:rPr b="1">
                <a:solidFill>
                  <a:srgbClr val="64FFDA"/>
                </a:solidFill>
              </a:rPr>
              <a:t>Mechanism: </a:t>
            </a:r>
            <a:r>
              <a:rPr b="0">
                <a:solidFill>
                  <a:srgbClr val="F8FAFC"/>
                </a:solidFill>
              </a:rPr>
              <a:t>The dilation expands bright tissue across dark narrow gaps (&lt; r_close), completely eliminating vessels. The erosion restores the outer disc perimeter to its original geometry.</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CIELAB COLOR SPACE &amp; CUP CHROMATICITY</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Why RGB Fails for Cup Segmentation: </a:t>
            </a:r>
            <a:r>
              <a:rPr b="0">
                <a:solidFill>
                  <a:srgbClr val="F8FAFC"/>
                </a:solidFill>
              </a:rPr>
              <a:t>In RGB, lightness and hue are coupled. High reflectance from myelinated nerve fibers confuses cup vs rim separation.</a:t>
            </a:r>
          </a:p>
          <a:p>
            <a:pPr>
              <a:spcAft>
                <a:spcPts val="800"/>
              </a:spcAft>
              <a:defRPr sz="1300">
                <a:solidFill>
                  <a:srgbClr val="F8FAFC"/>
                </a:solidFill>
              </a:defRPr>
            </a:pPr>
            <a:r>
              <a:rPr b="1">
                <a:solidFill>
                  <a:srgbClr val="64FFDA"/>
                </a:solidFill>
              </a:rPr>
              <a:t>CIELAB Color Space: </a:t>
            </a:r>
            <a:r>
              <a:rPr b="0">
                <a:solidFill>
                  <a:srgbClr val="F8FAFC"/>
                </a:solidFill>
              </a:rPr>
              <a:t>Decouples perceived Lightness (L*) from chromatic coordinates (a* = green-red axis; b* = blue-yellow axis).</a:t>
            </a:r>
          </a:p>
          <a:p>
            <a:pPr>
              <a:spcAft>
                <a:spcPts val="800"/>
              </a:spcAft>
              <a:defRPr sz="1300">
                <a:solidFill>
                  <a:srgbClr val="F8FAFC"/>
                </a:solidFill>
              </a:defRPr>
            </a:pPr>
            <a:r>
              <a:rPr b="1">
                <a:solidFill>
                  <a:srgbClr val="64FFDA"/>
                </a:solidFill>
              </a:rPr>
              <a:t>The Inverted a* Feature (255 - a*): </a:t>
            </a:r>
            <a:r>
              <a:rPr b="0">
                <a:solidFill>
                  <a:srgbClr val="F8FAFC"/>
                </a:solidFill>
              </a:rPr>
              <a:t>The neuroretinal rim is rich in capillaries and appears pinkish/red (high a*). The optic cup is a depression devoid of blood flow and appears pale/yellow (low a*).</a:t>
            </a:r>
          </a:p>
          <a:p>
            <a:pPr>
              <a:spcAft>
                <a:spcPts val="800"/>
              </a:spcAft>
              <a:defRPr sz="1300">
                <a:solidFill>
                  <a:srgbClr val="F8FAFC"/>
                </a:solidFill>
              </a:defRPr>
            </a:pPr>
            <a:r>
              <a:rPr b="1">
                <a:solidFill>
                  <a:srgbClr val="64FFDA"/>
                </a:solidFill>
              </a:rPr>
              <a:t>Otsu on 255 - a*: </a:t>
            </a:r>
            <a:r>
              <a:rPr b="0">
                <a:solidFill>
                  <a:srgbClr val="F8FAFC"/>
                </a:solidFill>
              </a:rPr>
              <a:t>Extracting 255 - a* turns the pale cup into a distinct bright plateau, allowing clean, robust binarization inside the disc ROI.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vCDR: Mathematical Measurement, Example &amp; Clinical Integrity</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MEASUREMENT FORMULATION &amp; WORKED EXAMPLE</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Vertical Span Formulation: </a:t>
            </a:r>
            <a:r>
              <a:rPr b="0">
                <a:solidFill>
                  <a:srgbClr val="F8FAFC"/>
                </a:solidFill>
              </a:rPr>
              <a:t>D = max(y | M(x, y) = 1) - min(y | M(x, y) = 1) + 1</a:t>
            </a:r>
          </a:p>
          <a:p>
            <a:pPr>
              <a:spcAft>
                <a:spcPts val="800"/>
              </a:spcAft>
              <a:defRPr sz="1300">
                <a:solidFill>
                  <a:srgbClr val="F8FAFC"/>
                </a:solidFill>
              </a:defRPr>
            </a:pPr>
            <a:r>
              <a:rPr b="1">
                <a:solidFill>
                  <a:srgbClr val="64FFDA"/>
                </a:solidFill>
              </a:rPr>
              <a:t>vCDR Equation: </a:t>
            </a:r>
            <a:r>
              <a:rPr b="0">
                <a:solidFill>
                  <a:srgbClr val="F8FAFC"/>
                </a:solidFill>
              </a:rPr>
              <a:t>vCDR = D_cup / D_disc</a:t>
            </a:r>
          </a:p>
          <a:p>
            <a:pPr>
              <a:spcAft>
                <a:spcPts val="800"/>
              </a:spcAft>
              <a:defRPr sz="1300">
                <a:solidFill>
                  <a:srgbClr val="F8FAFC"/>
                </a:solidFill>
              </a:defRPr>
            </a:pPr>
            <a:r>
              <a:rPr b="1">
                <a:solidFill>
                  <a:srgbClr val="64FFDA"/>
                </a:solidFill>
              </a:rPr>
              <a:t>Worked Numerical Example: </a:t>
            </a:r>
            <a:r>
              <a:rPr b="0">
                <a:solidFill>
                  <a:srgbClr val="F8FAFC"/>
                </a:solidFill>
              </a:rPr>
              <a:t/>
            </a:r>
          </a:p>
          <a:p>
            <a:pPr>
              <a:spcAft>
                <a:spcPts val="800"/>
              </a:spcAft>
              <a:defRPr sz="1300">
                <a:solidFill>
                  <a:srgbClr val="F8FAFC"/>
                </a:solidFill>
              </a:defRPr>
            </a:pPr>
            <a:r>
              <a:rPr b="1">
                <a:solidFill>
                  <a:srgbClr val="64FFDA"/>
                </a:solidFill>
              </a:rPr>
              <a:t>• Segmented Disc Extent: </a:t>
            </a:r>
            <a:r>
              <a:rPr b="0">
                <a:solidFill>
                  <a:srgbClr val="F8FAFC"/>
                </a:solidFill>
              </a:rPr>
              <a:t>y_min = 450, y_max = 850 -&gt; D_disc = 401 pixels</a:t>
            </a:r>
          </a:p>
          <a:p>
            <a:pPr>
              <a:spcAft>
                <a:spcPts val="800"/>
              </a:spcAft>
              <a:defRPr sz="1300">
                <a:solidFill>
                  <a:srgbClr val="F8FAFC"/>
                </a:solidFill>
              </a:defRPr>
            </a:pPr>
            <a:r>
              <a:rPr b="1">
                <a:solidFill>
                  <a:srgbClr val="64FFDA"/>
                </a:solidFill>
              </a:rPr>
              <a:t>• Segmented Cup Extent: </a:t>
            </a:r>
            <a:r>
              <a:rPr b="0">
                <a:solidFill>
                  <a:srgbClr val="F8FAFC"/>
                </a:solidFill>
              </a:rPr>
              <a:t>y_min = 550, y_max = 790 -&gt; D_cup = 241 pixels</a:t>
            </a:r>
          </a:p>
          <a:p>
            <a:pPr>
              <a:spcAft>
                <a:spcPts val="800"/>
              </a:spcAft>
              <a:defRPr sz="1300">
                <a:solidFill>
                  <a:srgbClr val="F8FAFC"/>
                </a:solidFill>
              </a:defRPr>
            </a:pPr>
            <a:r>
              <a:rPr b="1">
                <a:solidFill>
                  <a:srgbClr val="64FFDA"/>
                </a:solidFill>
              </a:rPr>
              <a:t>• Resulting vCDR: </a:t>
            </a:r>
            <a:r>
              <a:rPr b="0">
                <a:solidFill>
                  <a:srgbClr val="F8FAFC"/>
                </a:solidFill>
              </a:rPr>
              <a:t>241 / 401 = 0.601 (Borderline Suspect Range)</a:t>
            </a:r>
          </a:p>
          <a:p>
            <a:pPr>
              <a:spcAft>
                <a:spcPts val="800"/>
              </a:spcAft>
              <a:defRPr sz="1300">
                <a:solidFill>
                  <a:srgbClr val="F8FAFC"/>
                </a:solidFill>
              </a:defRPr>
            </a:pPr>
            <a:r>
              <a:rPr b="1">
                <a:solidFill>
                  <a:srgbClr val="64FFDA"/>
                </a:solidFill>
              </a:rPr>
              <a:t>Deterministic Safety: </a:t>
            </a:r>
            <a:r>
              <a:rPr b="0">
                <a:solidFill>
                  <a:srgbClr val="F8FAFC"/>
                </a:solidFill>
              </a:rPr>
              <a:t>If D_disc ≤ 0 (degenerate contour), OptiFilter flags a structured failure rather than returning a synthetic ratio.</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SOURCES OF UNCERTAINTY &amp; NON-DIAGNOSTIC STANCE</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Monocular 2D Limitation: </a:t>
            </a:r>
            <a:r>
              <a:rPr b="0">
                <a:solidFill>
                  <a:srgbClr val="F8FAFC"/>
                </a:solidFill>
              </a:rPr>
              <a:t>True clinical cup depth cannot be fully measured from a single 2D color image. It requires stereoscopic viewing or optical coherence tomography (OCT).</a:t>
            </a:r>
          </a:p>
          <a:p>
            <a:pPr>
              <a:spcAft>
                <a:spcPts val="800"/>
              </a:spcAft>
              <a:defRPr sz="1300">
                <a:solidFill>
                  <a:srgbClr val="F8FAFC"/>
                </a:solidFill>
              </a:defRPr>
            </a:pPr>
            <a:r>
              <a:rPr b="1">
                <a:solidFill>
                  <a:srgbClr val="64FFDA"/>
                </a:solidFill>
              </a:rPr>
              <a:t>Sensitivity to Centroid Alignment: </a:t>
            </a:r>
            <a:r>
              <a:rPr b="0">
                <a:solidFill>
                  <a:srgbClr val="F8FAFC"/>
                </a:solidFill>
              </a:rPr>
              <a:t>If the active contour shifts slightly temporal due to peripapillary atrophy (PPA), vertical disc span can be slightly underestimated, artificially elevating vCDR.</a:t>
            </a:r>
          </a:p>
          <a:p>
            <a:pPr>
              <a:spcAft>
                <a:spcPts val="800"/>
              </a:spcAft>
              <a:defRPr sz="1300">
                <a:solidFill>
                  <a:srgbClr val="F8FAFC"/>
                </a:solidFill>
              </a:defRPr>
            </a:pPr>
            <a:r>
              <a:rPr b="1">
                <a:solidFill>
                  <a:srgbClr val="64FFDA"/>
                </a:solidFill>
              </a:rPr>
              <a:t>Strict Ethical Guardrails: </a:t>
            </a:r>
            <a:r>
              <a:rPr b="0">
                <a:solidFill>
                  <a:srgbClr val="F8FAFC"/>
                </a:solidFill>
              </a:rPr>
              <a:t>OptiFilter provides research telemetry and descriptive structural metrics. It is explicitly not an automated diagnostic device and must not replace an ophthalmologist's stereoscopic fundoscopy.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Evaluation Methodology: Confusion Matrix, Dice &amp; IoU</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MATHEMATICAL FORMULAS &amp; DEFINITIONS</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Dice Similarity (F1 Score): </a:t>
            </a:r>
            <a:r>
              <a:rPr b="0">
                <a:solidFill>
                  <a:srgbClr val="F8FAFC"/>
                </a:solidFill>
              </a:rPr>
              <a:t>Dice = 2 * TP / (2 * TP + FP + FN) = 2 * |P ∩ G| / (|P| + |G|)</a:t>
            </a:r>
          </a:p>
          <a:p>
            <a:pPr>
              <a:spcAft>
                <a:spcPts val="800"/>
              </a:spcAft>
              <a:defRPr sz="1300">
                <a:solidFill>
                  <a:srgbClr val="F8FAFC"/>
                </a:solidFill>
              </a:defRPr>
            </a:pPr>
            <a:r>
              <a:rPr b="1">
                <a:solidFill>
                  <a:srgbClr val="64FFDA"/>
                </a:solidFill>
              </a:rPr>
              <a:t>Jaccard Index (IoU): </a:t>
            </a:r>
            <a:r>
              <a:rPr b="0">
                <a:solidFill>
                  <a:srgbClr val="F8FAFC"/>
                </a:solidFill>
              </a:rPr>
              <a:t>IoU = TP / (TP + FP + FN) = |P ∩ G| / |P ∪ G|</a:t>
            </a:r>
          </a:p>
          <a:p>
            <a:pPr>
              <a:spcAft>
                <a:spcPts val="800"/>
              </a:spcAft>
              <a:defRPr sz="1300">
                <a:solidFill>
                  <a:srgbClr val="F8FAFC"/>
                </a:solidFill>
              </a:defRPr>
            </a:pPr>
            <a:r>
              <a:rPr b="1">
                <a:solidFill>
                  <a:srgbClr val="64FFDA"/>
                </a:solidFill>
              </a:rPr>
              <a:t>Sensitivity (Recall / TPR): </a:t>
            </a:r>
            <a:r>
              <a:rPr b="0">
                <a:solidFill>
                  <a:srgbClr val="F8FAFC"/>
                </a:solidFill>
              </a:rPr>
              <a:t>Sensitivity = TP / (TP + FN)  [Measures detected vessels]</a:t>
            </a:r>
          </a:p>
          <a:p>
            <a:pPr>
              <a:spcAft>
                <a:spcPts val="800"/>
              </a:spcAft>
              <a:defRPr sz="1300">
                <a:solidFill>
                  <a:srgbClr val="F8FAFC"/>
                </a:solidFill>
              </a:defRPr>
            </a:pPr>
            <a:r>
              <a:rPr b="1">
                <a:solidFill>
                  <a:srgbClr val="64FFDA"/>
                </a:solidFill>
              </a:rPr>
              <a:t>Specificity (TNR): </a:t>
            </a:r>
            <a:r>
              <a:rPr b="0">
                <a:solidFill>
                  <a:srgbClr val="F8FAFC"/>
                </a:solidFill>
              </a:rPr>
              <a:t>Specificity = TN / (TN + FP)  [Measures correct background]</a:t>
            </a:r>
          </a:p>
          <a:p>
            <a:pPr>
              <a:spcAft>
                <a:spcPts val="800"/>
              </a:spcAft>
              <a:defRPr sz="1300">
                <a:solidFill>
                  <a:srgbClr val="F8FAFC"/>
                </a:solidFill>
              </a:defRPr>
            </a:pPr>
            <a:r>
              <a:rPr b="1">
                <a:solidFill>
                  <a:srgbClr val="64FFDA"/>
                </a:solidFill>
              </a:rPr>
              <a:t>Precision (PPV): </a:t>
            </a:r>
            <a:r>
              <a:rPr b="0">
                <a:solidFill>
                  <a:srgbClr val="F8FAFC"/>
                </a:solidFill>
              </a:rPr>
              <a:t>Precision = TP / (TP + FP)  [Measures clean vessel pixels]</a:t>
            </a:r>
          </a:p>
          <a:p>
            <a:pPr>
              <a:spcAft>
                <a:spcPts val="800"/>
              </a:spcAft>
              <a:defRPr sz="1300">
                <a:solidFill>
                  <a:srgbClr val="F8FAFC"/>
                </a:solidFill>
              </a:defRPr>
            </a:pPr>
            <a:r>
              <a:rPr b="1">
                <a:solidFill>
                  <a:srgbClr val="64FFDA"/>
                </a:solidFill>
              </a:rPr>
              <a:t>Overall Accuracy: </a:t>
            </a:r>
            <a:r>
              <a:rPr b="0">
                <a:solidFill>
                  <a:srgbClr val="F8FAFC"/>
                </a:solidFill>
              </a:rPr>
              <a:t>Accuracy = (TP + TN) / (TP + TN + FP + FN)</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SPATIAL CONSTRAINTS &amp; THE ACCURACY FALLACY</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The Pixel Accuracy Paradox: </a:t>
            </a:r>
            <a:r>
              <a:rPr b="0">
                <a:solidFill>
                  <a:srgbClr val="F8FAFC"/>
                </a:solidFill>
              </a:rPr>
              <a:t>In fundus images, background tissue occupies ~90% of the area. A trivial algorithm predicting 100% black achieves 90% accuracy! Therefore, Dice and Sensitivity are the true benchmarks.</a:t>
            </a:r>
          </a:p>
          <a:p>
            <a:pPr>
              <a:spcAft>
                <a:spcPts val="800"/>
              </a:spcAft>
              <a:defRPr sz="1300">
                <a:solidFill>
                  <a:srgbClr val="F8FAFC"/>
                </a:solidFill>
              </a:defRPr>
            </a:pPr>
            <a:r>
              <a:rPr b="1">
                <a:solidFill>
                  <a:srgbClr val="64FFDA"/>
                </a:solidFill>
              </a:rPr>
              <a:t>Strict Field of View (FOV) Masking: </a:t>
            </a:r>
            <a:r>
              <a:rPr b="0">
                <a:solidFill>
                  <a:srgbClr val="F8FAFC"/>
                </a:solidFill>
              </a:rPr>
              <a:t>All metric counters (TP, FP, FN, TN) are evaluated strictly over pixels where FOV_mask(x, y) == 1. Pixels outside the circular camera border are completely excluded.</a:t>
            </a:r>
          </a:p>
          <a:p>
            <a:pPr>
              <a:spcAft>
                <a:spcPts val="800"/>
              </a:spcAft>
              <a:defRPr sz="1300">
                <a:solidFill>
                  <a:srgbClr val="F8FAFC"/>
                </a:solidFill>
              </a:defRPr>
            </a:pPr>
            <a:r>
              <a:rPr b="1">
                <a:solidFill>
                  <a:srgbClr val="64FFDA"/>
                </a:solidFill>
              </a:rPr>
              <a:t>Binary Ground-Truth Thresholding: </a:t>
            </a:r>
            <a:r>
              <a:rPr b="0">
                <a:solidFill>
                  <a:srgbClr val="F8FAFC"/>
                </a:solidFill>
              </a:rPr>
              <a:t>Continuous soft-probability expert maps (Drishti-GS) are binarized using majority voting (probability ≥ 0.50) before scoring.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Experimental Design: Scientific Fairness &amp; Zero Leakage</a:t>
            </a:r>
          </a:p>
        </p:txBody>
      </p:sp>
      <p:sp>
        <p:nvSpPr>
          <p:cNvPr id="5" name="Rounded Rectangle 4"/>
          <p:cNvSpPr/>
          <p:nvPr/>
        </p:nvSpPr>
        <p:spPr>
          <a:xfrm>
            <a:off x="731520" y="1463040"/>
            <a:ext cx="106984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10241280" cy="411480"/>
          </a:xfrm>
          <a:prstGeom prst="rect">
            <a:avLst/>
          </a:prstGeom>
          <a:noFill/>
        </p:spPr>
        <p:txBody>
          <a:bodyPr wrap="square">
            <a:spAutoFit/>
          </a:bodyPr>
          <a:lstStyle/>
          <a:p>
            <a:pPr>
              <a:defRPr sz="1200" b="1">
                <a:solidFill>
                  <a:srgbClr val="64FFDA"/>
                </a:solidFill>
              </a:defRPr>
            </a:pPr>
            <a:r>
              <a:t>RIGOROUS EXPERIMENTAL PROTOCOL</a:t>
            </a:r>
          </a:p>
        </p:txBody>
      </p:sp>
      <p:sp>
        <p:nvSpPr>
          <p:cNvPr id="7" name="TextBox 6"/>
          <p:cNvSpPr txBox="1"/>
          <p:nvPr/>
        </p:nvSpPr>
        <p:spPr>
          <a:xfrm>
            <a:off x="1005840" y="2103120"/>
            <a:ext cx="1014984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Prevention of Data Leakage: </a:t>
            </a:r>
            <a:r>
              <a:rPr b="0">
                <a:solidFill>
                  <a:srgbClr val="F8FAFC"/>
                </a:solidFill>
              </a:rPr>
              <a:t>Algorithm hyperparameters (Frangi scales σ, CLAHE clip limit β, hysteresis percentiles, snake weights) were calibrated strictly on the Development splits. The Held-Out splits were evaluated exactly once under frozen parameters.</a:t>
            </a:r>
          </a:p>
          <a:p>
            <a:pPr>
              <a:spcAft>
                <a:spcPts val="800"/>
              </a:spcAft>
              <a:defRPr sz="1300">
                <a:solidFill>
                  <a:srgbClr val="F8FAFC"/>
                </a:solidFill>
              </a:defRPr>
            </a:pPr>
            <a:r>
              <a:rPr b="1">
                <a:solidFill>
                  <a:srgbClr val="64FFDA"/>
                </a:solidFill>
              </a:rPr>
              <a:t>Fixed Deterministic Splits (Seed 42): </a:t>
            </a:r>
            <a:r>
              <a:rPr b="0">
                <a:solidFill>
                  <a:srgbClr val="F8FAFC"/>
                </a:solidFill>
              </a:rPr>
              <a:t/>
            </a:r>
          </a:p>
          <a:p>
            <a:pPr>
              <a:spcAft>
                <a:spcPts val="800"/>
              </a:spcAft>
              <a:defRPr sz="1300">
                <a:solidFill>
                  <a:srgbClr val="F8FAFC"/>
                </a:solidFill>
              </a:defRPr>
            </a:pPr>
            <a:r>
              <a:rPr b="1">
                <a:solidFill>
                  <a:srgbClr val="64FFDA"/>
                </a:solidFill>
              </a:rPr>
              <a:t>• DRIVE Dataset (20 Annotated Images): </a:t>
            </a:r>
            <a:r>
              <a:rPr b="0">
                <a:solidFill>
                  <a:srgbClr val="F8FAFC"/>
                </a:solidFill>
              </a:rPr>
              <a:t>15 Development cases (21_training to 35_training) | 5 Held-Out cases (36_training to 40_training).</a:t>
            </a:r>
          </a:p>
          <a:p>
            <a:pPr>
              <a:spcAft>
                <a:spcPts val="800"/>
              </a:spcAft>
              <a:defRPr sz="1300">
                <a:solidFill>
                  <a:srgbClr val="F8FAFC"/>
                </a:solidFill>
              </a:defRPr>
            </a:pPr>
            <a:r>
              <a:rPr b="1">
                <a:solidFill>
                  <a:srgbClr val="64FFDA"/>
                </a:solidFill>
              </a:rPr>
              <a:t>• Drishti-GS Dataset (50 Annotated Images): </a:t>
            </a:r>
            <a:r>
              <a:rPr b="0">
                <a:solidFill>
                  <a:srgbClr val="F8FAFC"/>
                </a:solidFill>
              </a:rPr>
              <a:t>35 Development cases (drishtiGS_001 to 035) | 15 Held-Out cases (drishtiGS_036 to 050).</a:t>
            </a:r>
          </a:p>
          <a:p>
            <a:pPr>
              <a:spcAft>
                <a:spcPts val="800"/>
              </a:spcAft>
              <a:defRPr sz="1300">
                <a:solidFill>
                  <a:srgbClr val="F8FAFC"/>
                </a:solidFill>
              </a:defRPr>
            </a:pPr>
            <a:r>
              <a:rPr b="1">
                <a:solidFill>
                  <a:srgbClr val="64FFDA"/>
                </a:solidFill>
              </a:rPr>
              <a:t>One-Variable-at-a-Time (OVAT) Ablation: </a:t>
            </a:r>
            <a:r>
              <a:rPr b="0">
                <a:solidFill>
                  <a:srgbClr val="F8FAFC"/>
                </a:solidFill>
              </a:rPr>
              <a:t>To prove the individual contribution of each DIP component, controlled variants were executed where exactly one component was modified or disabled while keeping all other variables constant.</a:t>
            </a:r>
          </a:p>
          <a:p>
            <a:pPr>
              <a:spcAft>
                <a:spcPts val="800"/>
              </a:spcAft>
              <a:defRPr sz="1300">
                <a:solidFill>
                  <a:srgbClr val="F8FAFC"/>
                </a:solidFill>
              </a:defRPr>
            </a:pPr>
            <a:r>
              <a:rPr b="1">
                <a:solidFill>
                  <a:srgbClr val="64FFDA"/>
                </a:solidFill>
              </a:rPr>
              <a:t>Traceability &amp; Reproducibility: </a:t>
            </a:r>
            <a:r>
              <a:rPr b="0">
                <a:solidFill>
                  <a:srgbClr val="F8FAFC"/>
                </a:solidFill>
              </a:rPr>
              <a:t>Every benchmark result is automatically logged to CSV files with image IDs, timestamps, hardware specs, and runtime latencies recorded via time.perf_counter().</a:t>
            </a:r>
          </a:p>
          <a:p>
            <a:pPr>
              <a:spcAft>
                <a:spcPts val="800"/>
              </a:spcAft>
              <a:defRPr sz="1300">
                <a:solidFill>
                  <a:srgbClr val="F8FAFC"/>
                </a:solidFill>
              </a:defRPr>
            </a:pPr>
            <a:r>
              <a:rPr b="1">
                <a:solidFill>
                  <a:srgbClr val="64FFDA"/>
                </a:solidFill>
              </a:rPr>
              <a:t>No Fabrication Policy: </a:t>
            </a:r>
            <a:r>
              <a:rPr b="0">
                <a:solidFill>
                  <a:srgbClr val="F8FAFC"/>
                </a:solidFill>
              </a:rPr>
              <a:t>Where reference masks are absent (e.g. DRIVE official test set lacking public 1st_manual segmentations), accuracy is honestly withheld rather than approximated.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Track A Results: Empirical Benchmarks on DRIVE Dataset</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QUANTITATIVE PERFORMANCE (DRIVE, N=20)</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Evaluated Images: </a:t>
            </a:r>
            <a:r>
              <a:rPr b="0">
                <a:solidFill>
                  <a:srgbClr val="F8FAFC"/>
                </a:solidFill>
              </a:rPr>
              <a:t>20 fully annotated DRIVE images (15 Dev, 5 Held-Out) evaluated strictly within the circular FOV.</a:t>
            </a:r>
          </a:p>
          <a:p>
            <a:pPr>
              <a:spcAft>
                <a:spcPts val="800"/>
              </a:spcAft>
              <a:defRPr sz="1300">
                <a:solidFill>
                  <a:srgbClr val="F8FAFC"/>
                </a:solidFill>
              </a:defRPr>
            </a:pPr>
            <a:r>
              <a:rPr b="1">
                <a:solidFill>
                  <a:srgbClr val="64FFDA"/>
                </a:solidFill>
              </a:rPr>
              <a:t>Overall Mean Dice (F1): </a:t>
            </a:r>
            <a:r>
              <a:rPr b="0">
                <a:solidFill>
                  <a:srgbClr val="F8FAFC"/>
                </a:solidFill>
              </a:rPr>
              <a:t>0.6586 ± 0.058 (Held-Out Split: 0.6986)</a:t>
            </a:r>
          </a:p>
          <a:p>
            <a:pPr>
              <a:spcAft>
                <a:spcPts val="800"/>
              </a:spcAft>
              <a:defRPr sz="1300">
                <a:solidFill>
                  <a:srgbClr val="F8FAFC"/>
                </a:solidFill>
              </a:defRPr>
            </a:pPr>
            <a:r>
              <a:rPr b="1">
                <a:solidFill>
                  <a:srgbClr val="64FFDA"/>
                </a:solidFill>
              </a:rPr>
              <a:t>Mean IoU (Jaccard): </a:t>
            </a:r>
            <a:r>
              <a:rPr b="0">
                <a:solidFill>
                  <a:srgbClr val="F8FAFC"/>
                </a:solidFill>
              </a:rPr>
              <a:t>0.4935 ± 0.061 (Held-Out Split: 0.5370)</a:t>
            </a:r>
          </a:p>
          <a:p>
            <a:pPr>
              <a:spcAft>
                <a:spcPts val="800"/>
              </a:spcAft>
              <a:defRPr sz="1300">
                <a:solidFill>
                  <a:srgbClr val="F8FAFC"/>
                </a:solidFill>
              </a:defRPr>
            </a:pPr>
            <a:r>
              <a:rPr b="1">
                <a:solidFill>
                  <a:srgbClr val="64FFDA"/>
                </a:solidFill>
              </a:rPr>
              <a:t>Mean Sensitivity (Recall): </a:t>
            </a:r>
            <a:r>
              <a:rPr b="0">
                <a:solidFill>
                  <a:srgbClr val="F8FAFC"/>
                </a:solidFill>
              </a:rPr>
              <a:t>0.7307 ± 0.045 (Held-Out Split: 0.7665)</a:t>
            </a:r>
          </a:p>
          <a:p>
            <a:pPr>
              <a:spcAft>
                <a:spcPts val="800"/>
              </a:spcAft>
              <a:defRPr sz="1300">
                <a:solidFill>
                  <a:srgbClr val="F8FAFC"/>
                </a:solidFill>
              </a:defRPr>
            </a:pPr>
            <a:r>
              <a:rPr b="1">
                <a:solidFill>
                  <a:srgbClr val="64FFDA"/>
                </a:solidFill>
              </a:rPr>
              <a:t>Mean Specificity (TNR): </a:t>
            </a:r>
            <a:r>
              <a:rPr b="0">
                <a:solidFill>
                  <a:srgbClr val="F8FAFC"/>
                </a:solidFill>
              </a:rPr>
              <a:t>0.9315 ± 0.018 (Held-Out Split: 0.9378)</a:t>
            </a:r>
          </a:p>
          <a:p>
            <a:pPr>
              <a:spcAft>
                <a:spcPts val="800"/>
              </a:spcAft>
              <a:defRPr sz="1300">
                <a:solidFill>
                  <a:srgbClr val="F8FAFC"/>
                </a:solidFill>
              </a:defRPr>
            </a:pPr>
            <a:r>
              <a:rPr b="1">
                <a:solidFill>
                  <a:srgbClr val="64FFDA"/>
                </a:solidFill>
              </a:rPr>
              <a:t>Mean Precision (PPV): </a:t>
            </a:r>
            <a:r>
              <a:rPr b="0">
                <a:solidFill>
                  <a:srgbClr val="F8FAFC"/>
                </a:solidFill>
              </a:rPr>
              <a:t>0.6062 ± 0.085 (Held-Out Split: 0.6442)</a:t>
            </a:r>
          </a:p>
          <a:p>
            <a:pPr>
              <a:spcAft>
                <a:spcPts val="800"/>
              </a:spcAft>
              <a:defRPr sz="1300">
                <a:solidFill>
                  <a:srgbClr val="F8FAFC"/>
                </a:solidFill>
              </a:defRPr>
            </a:pPr>
            <a:r>
              <a:rPr b="1">
                <a:solidFill>
                  <a:srgbClr val="64FFDA"/>
                </a:solidFill>
              </a:rPr>
              <a:t>Mean Pixel Accuracy: </a:t>
            </a:r>
            <a:r>
              <a:rPr b="0">
                <a:solidFill>
                  <a:srgbClr val="F8FAFC"/>
                </a:solidFill>
              </a:rPr>
              <a:t>0.9058 ± 0.016 (Held-Out Split: 0.9152)</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ABLATION FINDINGS &amp; EMPIRICAL TRADE-OFFS</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Baseline (CLAHE + MultiFrangi + Hysteresis): </a:t>
            </a:r>
            <a:r>
              <a:rPr b="0">
                <a:solidFill>
                  <a:srgbClr val="F8FAFC"/>
                </a:solidFill>
              </a:rPr>
              <a:t>Dice: 0.6476 | Sensitivity: 0.7074 | Runtime: 770.9 ms. (Optimal balance of recall and noise suppression).</a:t>
            </a:r>
          </a:p>
          <a:p>
            <a:pPr>
              <a:spcAft>
                <a:spcPts val="800"/>
              </a:spcAft>
              <a:defRPr sz="1300">
                <a:solidFill>
                  <a:srgbClr val="F8FAFC"/>
                </a:solidFill>
              </a:defRPr>
            </a:pPr>
            <a:r>
              <a:rPr b="1">
                <a:solidFill>
                  <a:srgbClr val="64FFDA"/>
                </a:solidFill>
              </a:rPr>
              <a:t>Variant 1 — No CLAHE (Raw Green): </a:t>
            </a:r>
            <a:r>
              <a:rPr b="0">
                <a:solidFill>
                  <a:srgbClr val="F8FAFC"/>
                </a:solidFill>
              </a:rPr>
              <a:t>Dice: 0.6444 | Sensitivity drops to 0.6759. Faint peripheral capillaries are lost in background shadow.</a:t>
            </a:r>
          </a:p>
          <a:p>
            <a:pPr>
              <a:spcAft>
                <a:spcPts val="800"/>
              </a:spcAft>
              <a:defRPr sz="1300">
                <a:solidFill>
                  <a:srgbClr val="F8FAFC"/>
                </a:solidFill>
              </a:defRPr>
            </a:pPr>
            <a:r>
              <a:rPr b="1">
                <a:solidFill>
                  <a:srgbClr val="64FFDA"/>
                </a:solidFill>
              </a:rPr>
              <a:t>Variant 2 — Single-Scale Frangi (σ=2.0): </a:t>
            </a:r>
            <a:r>
              <a:rPr b="0">
                <a:solidFill>
                  <a:srgbClr val="F8FAFC"/>
                </a:solidFill>
              </a:rPr>
              <a:t>Dice: 0.6857 | Runtime: 197.5 ms (3.9x faster!). However, single scale misses thick primary trunks and fine tips.</a:t>
            </a:r>
          </a:p>
          <a:p>
            <a:pPr>
              <a:spcAft>
                <a:spcPts val="800"/>
              </a:spcAft>
              <a:defRPr sz="1300">
                <a:solidFill>
                  <a:srgbClr val="F8FAFC"/>
                </a:solidFill>
              </a:defRPr>
            </a:pPr>
            <a:r>
              <a:rPr b="1">
                <a:solidFill>
                  <a:srgbClr val="64FFDA"/>
                </a:solidFill>
              </a:rPr>
              <a:t>Variant 3 — Global Otsu Thresholding: </a:t>
            </a:r>
            <a:r>
              <a:rPr b="0">
                <a:solidFill>
                  <a:srgbClr val="F8FAFC"/>
                </a:solidFill>
              </a:rPr>
              <a:t>Dice drops catastrophically to 0.0816! Sensitivity collapses to 0.0473. Proves that global thresholding completely fails for retinal vasculature.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Track B Results &amp; Failure Analysis (Drishti-GS Dataset)</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QUANTITATIVE PERFORMANCE (DRISHTI-GS, N=50)</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Evaluated Images: </a:t>
            </a:r>
            <a:r>
              <a:rPr b="0">
                <a:solidFill>
                  <a:srgbClr val="F8FAFC"/>
                </a:solidFill>
              </a:rPr>
              <a:t>50 multi-expert annotated images (35 Dev, 15 Held-Out).</a:t>
            </a:r>
          </a:p>
          <a:p>
            <a:pPr>
              <a:spcAft>
                <a:spcPts val="800"/>
              </a:spcAft>
              <a:defRPr sz="1300">
                <a:solidFill>
                  <a:srgbClr val="F8FAFC"/>
                </a:solidFill>
              </a:defRPr>
            </a:pPr>
            <a:r>
              <a:rPr b="1">
                <a:solidFill>
                  <a:srgbClr val="64FFDA"/>
                </a:solidFill>
              </a:rPr>
              <a:t>Optic Disc Mean Dice: </a:t>
            </a:r>
            <a:r>
              <a:rPr b="0">
                <a:solidFill>
                  <a:srgbClr val="F8FAFC"/>
                </a:solidFill>
              </a:rPr>
              <a:t>0.9221 ± 0.136 (Held-Out Split: 0.9459)</a:t>
            </a:r>
          </a:p>
          <a:p>
            <a:pPr>
              <a:spcAft>
                <a:spcPts val="800"/>
              </a:spcAft>
              <a:defRPr sz="1300">
                <a:solidFill>
                  <a:srgbClr val="F8FAFC"/>
                </a:solidFill>
              </a:defRPr>
            </a:pPr>
            <a:r>
              <a:rPr b="1">
                <a:solidFill>
                  <a:srgbClr val="64FFDA"/>
                </a:solidFill>
              </a:rPr>
              <a:t>Optic Disc Mean IoU: </a:t>
            </a:r>
            <a:r>
              <a:rPr b="0">
                <a:solidFill>
                  <a:srgbClr val="F8FAFC"/>
                </a:solidFill>
              </a:rPr>
              <a:t>0.8719 ± 0.134 (Held-Out Split: 0.8977)</a:t>
            </a:r>
          </a:p>
          <a:p>
            <a:pPr>
              <a:spcAft>
                <a:spcPts val="800"/>
              </a:spcAft>
              <a:defRPr sz="1300">
                <a:solidFill>
                  <a:srgbClr val="F8FAFC"/>
                </a:solidFill>
              </a:defRPr>
            </a:pPr>
            <a:r>
              <a:rPr b="1">
                <a:solidFill>
                  <a:srgbClr val="64FFDA"/>
                </a:solidFill>
              </a:rPr>
              <a:t>Optic Cup Mean Dice: </a:t>
            </a:r>
            <a:r>
              <a:rPr b="0">
                <a:solidFill>
                  <a:srgbClr val="F8FAFC"/>
                </a:solidFill>
              </a:rPr>
              <a:t>0.3229 ± 0.247 (Held-Out Split: 0.3017)</a:t>
            </a:r>
          </a:p>
          <a:p>
            <a:pPr>
              <a:spcAft>
                <a:spcPts val="800"/>
              </a:spcAft>
              <a:defRPr sz="1300">
                <a:solidFill>
                  <a:srgbClr val="F8FAFC"/>
                </a:solidFill>
              </a:defRPr>
            </a:pPr>
            <a:r>
              <a:rPr b="1">
                <a:solidFill>
                  <a:srgbClr val="64FFDA"/>
                </a:solidFill>
              </a:rPr>
              <a:t>Optic Cup Mean IoU: </a:t>
            </a:r>
            <a:r>
              <a:rPr b="0">
                <a:solidFill>
                  <a:srgbClr val="F8FAFC"/>
                </a:solidFill>
              </a:rPr>
              <a:t>0.2185 ± 0.181 (Held-Out Split: 0.1950)</a:t>
            </a:r>
          </a:p>
          <a:p>
            <a:pPr>
              <a:spcAft>
                <a:spcPts val="800"/>
              </a:spcAft>
              <a:defRPr sz="1300">
                <a:solidFill>
                  <a:srgbClr val="F8FAFC"/>
                </a:solidFill>
              </a:defRPr>
            </a:pPr>
            <a:r>
              <a:rPr b="1">
                <a:solidFill>
                  <a:srgbClr val="64FFDA"/>
                </a:solidFill>
              </a:rPr>
              <a:t>vCDR Absolute Error vs Clinical Expert: </a:t>
            </a:r>
            <a:r>
              <a:rPr b="0">
                <a:solidFill>
                  <a:srgbClr val="F8FAFC"/>
                </a:solidFill>
              </a:rPr>
              <a:t>0.3513 ± 0.251 (Dev: 0.3428, Held-Out: 0.3992)</a:t>
            </a:r>
          </a:p>
          <a:p>
            <a:pPr>
              <a:spcAft>
                <a:spcPts val="800"/>
              </a:spcAft>
              <a:defRPr sz="1300">
                <a:solidFill>
                  <a:srgbClr val="F8FAFC"/>
                </a:solidFill>
              </a:defRPr>
            </a:pPr>
            <a:r>
              <a:rPr b="1">
                <a:solidFill>
                  <a:srgbClr val="64FFDA"/>
                </a:solidFill>
              </a:rPr>
              <a:t>Robustness Guarantee: </a:t>
            </a:r>
            <a:r>
              <a:rPr b="0">
                <a:solidFill>
                  <a:srgbClr val="F8FAFC"/>
                </a:solidFill>
              </a:rPr>
              <a:t>Fallback triggered in only 1 of 50 cases (drishtiGS_038). All other 49 converged successfully.</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SCIENTIFIC FAILURE &amp; LIMITATION ANALYSIS</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Why Disc Dice is High (0.922) while Cup Dice is Lower (0.323): </a:t>
            </a:r>
            <a:r>
              <a:rPr b="0">
                <a:solidFill>
                  <a:srgbClr val="F8FAFC"/>
                </a:solidFill>
              </a:rPr>
              <a:t>The disc has a sharp physical edge (Elschnig scleral ring) allowing active contours to converge accurately. The cup is a subtle 3D physical slope with no sharp 2D color step-edge.</a:t>
            </a:r>
          </a:p>
          <a:p>
            <a:pPr>
              <a:spcAft>
                <a:spcPts val="800"/>
              </a:spcAft>
              <a:defRPr sz="1300">
                <a:solidFill>
                  <a:srgbClr val="F8FAFC"/>
                </a:solidFill>
              </a:defRPr>
            </a:pPr>
            <a:r>
              <a:rPr b="1">
                <a:solidFill>
                  <a:srgbClr val="64FFDA"/>
                </a:solidFill>
              </a:rPr>
              <a:t>2D Color vs 3D Depth Ambiguity: </a:t>
            </a:r>
            <a:r>
              <a:rPr b="0">
                <a:solidFill>
                  <a:srgbClr val="F8FAFC"/>
                </a:solidFill>
              </a:rPr>
              <a:t>Ophthalmologists evaluate cup margins via stereoscopic parallax and vascular kinking. 2D luminance thresholding detects only the central pale bottom.</a:t>
            </a:r>
          </a:p>
          <a:p>
            <a:pPr>
              <a:spcAft>
                <a:spcPts val="800"/>
              </a:spcAft>
              <a:defRPr sz="1300">
                <a:solidFill>
                  <a:srgbClr val="F8FAFC"/>
                </a:solidFill>
              </a:defRPr>
            </a:pPr>
            <a:r>
              <a:rPr b="1">
                <a:solidFill>
                  <a:srgbClr val="64FFDA"/>
                </a:solidFill>
              </a:rPr>
              <a:t>Peripapillary Atrophy (PPA): </a:t>
            </a:r>
            <a:r>
              <a:rPr b="0">
                <a:solidFill>
                  <a:srgbClr val="F8FAFC"/>
                </a:solidFill>
              </a:rPr>
              <a:t>In glaucomatous eyes, adjacent choroidal thinning mimics disc brightness, occasionally drawing snake contours temporal.</a:t>
            </a:r>
          </a:p>
          <a:p>
            <a:pPr>
              <a:spcAft>
                <a:spcPts val="800"/>
              </a:spcAft>
              <a:defRPr sz="1300">
                <a:solidFill>
                  <a:srgbClr val="F8FAFC"/>
                </a:solidFill>
              </a:defRPr>
            </a:pPr>
            <a:r>
              <a:rPr b="1">
                <a:solidFill>
                  <a:srgbClr val="64FFDA"/>
                </a:solidFill>
              </a:rPr>
              <a:t>Integrity in Reporting: </a:t>
            </a:r>
            <a:r>
              <a:rPr b="0">
                <a:solidFill>
                  <a:srgbClr val="F8FAFC"/>
                </a:solidFill>
              </a:rPr>
              <a:t>We disclose every limitation honestly rather than claiming unrealistic diagnostic perfection.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Runtime &amp; Computational Latency Profiling on Commodity CPU</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EMPIRICAL CPU LATENCY (TIME.PERF_COUNTER)</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Target Performance Budget: </a:t>
            </a:r>
            <a:r>
              <a:rPr b="0">
                <a:solidFill>
                  <a:srgbClr val="F8FAFC"/>
                </a:solidFill>
              </a:rPr>
              <a:t>Sub-2000 ms per image on commodity non-GPU CPU hardware.</a:t>
            </a:r>
          </a:p>
          <a:p>
            <a:pPr>
              <a:spcAft>
                <a:spcPts val="800"/>
              </a:spcAft>
              <a:defRPr sz="1300">
                <a:solidFill>
                  <a:srgbClr val="F8FAFC"/>
                </a:solidFill>
              </a:defRPr>
            </a:pPr>
            <a:r>
              <a:rPr b="1">
                <a:solidFill>
                  <a:srgbClr val="64FFDA"/>
                </a:solidFill>
              </a:rPr>
              <a:t>Benchmarking Protocol: </a:t>
            </a:r>
            <a:r>
              <a:rPr b="0">
                <a:solidFill>
                  <a:srgbClr val="F8FAFC"/>
                </a:solidFill>
              </a:rPr>
              <a:t>3 warm-up runs, 5 timed repetitions per image measuring pure algorithmic execution (excluding disk I/O and JSON encoding).</a:t>
            </a:r>
          </a:p>
          <a:p>
            <a:pPr>
              <a:spcAft>
                <a:spcPts val="800"/>
              </a:spcAft>
              <a:defRPr sz="1300">
                <a:solidFill>
                  <a:srgbClr val="F8FAFC"/>
                </a:solidFill>
              </a:defRPr>
            </a:pPr>
            <a:r>
              <a:rPr b="1">
                <a:solidFill>
                  <a:srgbClr val="64FFDA"/>
                </a:solidFill>
              </a:rPr>
              <a:t>Track A: Vessel Extraction (DRIVE, 565x584 px): </a:t>
            </a:r>
            <a:r>
              <a:rPr b="0">
                <a:solidFill>
                  <a:srgbClr val="F8FAFC"/>
                </a:solidFill>
              </a:rPr>
              <a:t/>
            </a:r>
          </a:p>
          <a:p>
            <a:pPr>
              <a:spcAft>
                <a:spcPts val="800"/>
              </a:spcAft>
              <a:defRPr sz="1300">
                <a:solidFill>
                  <a:srgbClr val="F8FAFC"/>
                </a:solidFill>
              </a:defRPr>
            </a:pPr>
            <a:r>
              <a:rPr b="1">
                <a:solidFill>
                  <a:srgbClr val="64FFDA"/>
                </a:solidFill>
              </a:rPr>
              <a:t>• Mean Latency: </a:t>
            </a:r>
            <a:r>
              <a:rPr b="0">
                <a:solidFill>
                  <a:srgbClr val="F8FAFC"/>
                </a:solidFill>
              </a:rPr>
              <a:t>535.1 ms (3.7x faster than target budget! ✅)</a:t>
            </a:r>
          </a:p>
          <a:p>
            <a:pPr>
              <a:spcAft>
                <a:spcPts val="800"/>
              </a:spcAft>
              <a:defRPr sz="1300">
                <a:solidFill>
                  <a:srgbClr val="F8FAFC"/>
                </a:solidFill>
              </a:defRPr>
            </a:pPr>
            <a:r>
              <a:rPr b="1">
                <a:solidFill>
                  <a:srgbClr val="64FFDA"/>
                </a:solidFill>
              </a:rPr>
              <a:t>• Median Latency: </a:t>
            </a:r>
            <a:r>
              <a:rPr b="0">
                <a:solidFill>
                  <a:srgbClr val="F8FAFC"/>
                </a:solidFill>
              </a:rPr>
              <a:t>539.7 ms (Min: 517.5 ms, Max: 545.1 ms)</a:t>
            </a:r>
          </a:p>
          <a:p>
            <a:pPr>
              <a:spcAft>
                <a:spcPts val="800"/>
              </a:spcAft>
              <a:defRPr sz="1300">
                <a:solidFill>
                  <a:srgbClr val="F8FAFC"/>
                </a:solidFill>
              </a:defRPr>
            </a:pPr>
            <a:r>
              <a:rPr b="1">
                <a:solidFill>
                  <a:srgbClr val="64FFDA"/>
                </a:solidFill>
              </a:rPr>
              <a:t>• Standard Deviation: </a:t>
            </a:r>
            <a:r>
              <a:rPr b="0">
                <a:solidFill>
                  <a:srgbClr val="F8FAFC"/>
                </a:solidFill>
              </a:rPr>
              <a:t>± 10.3 ms (highly consistent determinism)</a:t>
            </a:r>
          </a:p>
          <a:p>
            <a:pPr>
              <a:spcAft>
                <a:spcPts val="800"/>
              </a:spcAft>
              <a:defRPr sz="1300">
                <a:solidFill>
                  <a:srgbClr val="F8FAFC"/>
                </a:solidFill>
              </a:defRPr>
            </a:pPr>
            <a:r>
              <a:rPr b="1">
                <a:solidFill>
                  <a:srgbClr val="64FFDA"/>
                </a:solidFill>
              </a:rPr>
              <a:t>Track B: Full Resolution (Drishti-GS, 1752x2045 px): </a:t>
            </a:r>
            <a:r>
              <a:rPr b="0">
                <a:solidFill>
                  <a:srgbClr val="F8FAFC"/>
                </a:solidFill>
              </a:rPr>
              <a:t/>
            </a:r>
          </a:p>
          <a:p>
            <a:pPr>
              <a:spcAft>
                <a:spcPts val="800"/>
              </a:spcAft>
              <a:defRPr sz="1300">
                <a:solidFill>
                  <a:srgbClr val="F8FAFC"/>
                </a:solidFill>
              </a:defRPr>
            </a:pPr>
            <a:r>
              <a:rPr b="1">
                <a:solidFill>
                  <a:srgbClr val="64FFDA"/>
                </a:solidFill>
              </a:rPr>
              <a:t>• Mean Latency: </a:t>
            </a:r>
            <a:r>
              <a:rPr b="0">
                <a:solidFill>
                  <a:srgbClr val="F8FAFC"/>
                </a:solidFill>
              </a:rPr>
              <a:t>2864.7 ms (high-resolution active contour scaling)</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TRACK A STAGE BREAKDOWN (% LATENCY)</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1. Image Validation &amp; Preprocessing: </a:t>
            </a:r>
            <a:r>
              <a:rPr b="0">
                <a:solidFill>
                  <a:srgbClr val="F8FAFC"/>
                </a:solidFill>
              </a:rPr>
              <a:t>18.4 ms (4.0% of total pipeline)</a:t>
            </a:r>
          </a:p>
          <a:p>
            <a:pPr>
              <a:spcAft>
                <a:spcPts val="800"/>
              </a:spcAft>
              <a:defRPr sz="1300">
                <a:solidFill>
                  <a:srgbClr val="F8FAFC"/>
                </a:solidFill>
              </a:defRPr>
            </a:pPr>
            <a:r>
              <a:rPr b="1">
                <a:solidFill>
                  <a:srgbClr val="64FFDA"/>
                </a:solidFill>
              </a:rPr>
              <a:t>2. CLAHE Contrast Equalization: </a:t>
            </a:r>
            <a:r>
              <a:rPr b="0">
                <a:solidFill>
                  <a:srgbClr val="F8FAFC"/>
                </a:solidFill>
              </a:rPr>
              <a:t>24.1 ms (5.3% of total pipeline)</a:t>
            </a:r>
          </a:p>
          <a:p>
            <a:pPr>
              <a:spcAft>
                <a:spcPts val="800"/>
              </a:spcAft>
              <a:defRPr sz="1300">
                <a:solidFill>
                  <a:srgbClr val="F8FAFC"/>
                </a:solidFill>
              </a:defRPr>
            </a:pPr>
            <a:r>
              <a:rPr b="1">
                <a:solidFill>
                  <a:srgbClr val="64FFDA"/>
                </a:solidFill>
              </a:rPr>
              <a:t>3. Multiscale Hessian Convolutions (4 scales): </a:t>
            </a:r>
            <a:r>
              <a:rPr b="0">
                <a:solidFill>
                  <a:srgbClr val="F8FAFC"/>
                </a:solidFill>
              </a:rPr>
              <a:t>362.5 ms (79.1% — computationally dominant step)</a:t>
            </a:r>
          </a:p>
          <a:p>
            <a:pPr>
              <a:spcAft>
                <a:spcPts val="800"/>
              </a:spcAft>
              <a:defRPr sz="1300">
                <a:solidFill>
                  <a:srgbClr val="F8FAFC"/>
                </a:solidFill>
              </a:defRPr>
            </a:pPr>
            <a:r>
              <a:rPr b="1">
                <a:solidFill>
                  <a:srgbClr val="64FFDA"/>
                </a:solidFill>
              </a:rPr>
              <a:t>4. Dual-Percentile Hysteresis Thresholding: </a:t>
            </a:r>
            <a:r>
              <a:rPr b="0">
                <a:solidFill>
                  <a:srgbClr val="F8FAFC"/>
                </a:solidFill>
              </a:rPr>
              <a:t>45.2 ms (9.8% of total pipeline)</a:t>
            </a:r>
          </a:p>
          <a:p>
            <a:pPr>
              <a:spcAft>
                <a:spcPts val="800"/>
              </a:spcAft>
              <a:defRPr sz="1300">
                <a:solidFill>
                  <a:srgbClr val="F8FAFC"/>
                </a:solidFill>
              </a:defRPr>
            </a:pPr>
            <a:r>
              <a:rPr b="1">
                <a:solidFill>
                  <a:srgbClr val="64FFDA"/>
                </a:solidFill>
              </a:rPr>
              <a:t>5. Area Opening &amp; FOV Masking: </a:t>
            </a:r>
            <a:r>
              <a:rPr b="0">
                <a:solidFill>
                  <a:srgbClr val="F8FAFC"/>
                </a:solidFill>
              </a:rPr>
              <a:t>8.0 ms (1.8% of total pipeline)</a:t>
            </a:r>
          </a:p>
          <a:p>
            <a:pPr>
              <a:spcAft>
                <a:spcPts val="800"/>
              </a:spcAft>
              <a:defRPr sz="1300">
                <a:solidFill>
                  <a:srgbClr val="F8FAFC"/>
                </a:solidFill>
              </a:defRPr>
            </a:pPr>
            <a:r>
              <a:rPr b="1">
                <a:solidFill>
                  <a:srgbClr val="64FFDA"/>
                </a:solidFill>
              </a:rPr>
              <a:t>Total Track A Runtime: </a:t>
            </a:r>
            <a:r>
              <a:rPr b="0">
                <a:solidFill>
                  <a:srgbClr val="F8FAFC"/>
                </a:solidFill>
              </a:rPr>
              <a:t>458.2 ms (100.0%)</a:t>
            </a:r>
          </a:p>
          <a:p>
            <a:pPr>
              <a:spcAft>
                <a:spcPts val="800"/>
              </a:spcAft>
              <a:defRPr sz="1300">
                <a:solidFill>
                  <a:srgbClr val="F8FAFC"/>
                </a:solidFill>
              </a:defRPr>
            </a:pPr>
            <a:r>
              <a:rPr b="1">
                <a:solidFill>
                  <a:srgbClr val="64FFDA"/>
                </a:solidFill>
              </a:rPr>
              <a:t>Memory Footprint: </a:t>
            </a:r>
            <a:r>
              <a:rPr b="0">
                <a:solidFill>
                  <a:srgbClr val="F8FAFC"/>
                </a:solidFill>
              </a:rPr>
              <a:t>Peak RAM &lt; 240 MB, zero GPU memory allocated.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OptiFilter Workstation: Dual-Mode Research Interface</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STUDENT / PRESENTATION MODE</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Guided Stepper Workflow: </a:t>
            </a:r>
            <a:r>
              <a:rPr b="0">
                <a:solidFill>
                  <a:srgbClr val="F8FAFC"/>
                </a:solidFill>
              </a:rPr>
              <a:t>Step-by-step progress indicator guiding non-expert users through Image Selection -&gt; Preprocessing -&gt; Execution -&gt; Morphometrics.</a:t>
            </a:r>
          </a:p>
          <a:p>
            <a:pPr>
              <a:spcAft>
                <a:spcPts val="800"/>
              </a:spcAft>
              <a:defRPr sz="1300">
                <a:solidFill>
                  <a:srgbClr val="F8FAFC"/>
                </a:solidFill>
              </a:defRPr>
            </a:pPr>
            <a:r>
              <a:rPr b="1">
                <a:solidFill>
                  <a:srgbClr val="64FFDA"/>
                </a:solidFill>
              </a:rPr>
              <a:t>Interactive Intermediate Filmstrip: </a:t>
            </a:r>
            <a:r>
              <a:rPr b="0">
                <a:solidFill>
                  <a:srgbClr val="F8FAFC"/>
                </a:solidFill>
              </a:rPr>
              <a:t>Visual filmstrip displaying every intermediate pipeline stage (Green Channel, CLAHE, Hessian Vesselness, Hysteresis Core, Final Mask).</a:t>
            </a:r>
          </a:p>
          <a:p>
            <a:pPr>
              <a:spcAft>
                <a:spcPts val="800"/>
              </a:spcAft>
              <a:defRPr sz="1300">
                <a:solidFill>
                  <a:srgbClr val="F8FAFC"/>
                </a:solidFill>
              </a:defRPr>
            </a:pPr>
            <a:r>
              <a:rPr b="1">
                <a:solidFill>
                  <a:srgbClr val="64FFDA"/>
                </a:solidFill>
              </a:rPr>
              <a:t>Ergonomic Optical Viewport: </a:t>
            </a:r>
            <a:r>
              <a:rPr b="0">
                <a:solidFill>
                  <a:srgbClr val="F8FAFC"/>
                </a:solidFill>
              </a:rPr>
              <a:t>Crisp white workstation UI with an optically dark canvas viewport inside the viewer to preserve low-contrast fundus visibility.</a:t>
            </a:r>
          </a:p>
          <a:p>
            <a:pPr>
              <a:spcAft>
                <a:spcPts val="800"/>
              </a:spcAft>
              <a:defRPr sz="1300">
                <a:solidFill>
                  <a:srgbClr val="F8FAFC"/>
                </a:solidFill>
              </a:defRPr>
            </a:pPr>
            <a:r>
              <a:rPr b="1">
                <a:solidFill>
                  <a:srgbClr val="64FFDA"/>
                </a:solidFill>
              </a:rPr>
              <a:t>Educational Tooltips: </a:t>
            </a:r>
            <a:r>
              <a:rPr b="0">
                <a:solidFill>
                  <a:srgbClr val="F8FAFC"/>
                </a:solidFill>
              </a:rPr>
              <a:t>Hoverable mathematical explanations and concept definitions explaining every parameter slider.</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CLINICAL / RESEARCH MODE</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Full Confusion Matrix Telemetry: </a:t>
            </a:r>
            <a:r>
              <a:rPr b="0">
                <a:solidFill>
                  <a:srgbClr val="F8FAFC"/>
                </a:solidFill>
              </a:rPr>
              <a:t>Real-time display of True Positives, False Positives, False Negatives, and True Negatives with precision calculations.</a:t>
            </a:r>
          </a:p>
          <a:p>
            <a:pPr>
              <a:spcAft>
                <a:spcPts val="800"/>
              </a:spcAft>
              <a:defRPr sz="1300">
                <a:solidFill>
                  <a:srgbClr val="F8FAFC"/>
                </a:solidFill>
              </a:defRPr>
            </a:pPr>
            <a:r>
              <a:rPr b="1">
                <a:solidFill>
                  <a:srgbClr val="64FFDA"/>
                </a:solidFill>
              </a:rPr>
              <a:t>Multi-Layer View Modes: </a:t>
            </a:r>
            <a:r>
              <a:rPr b="0">
                <a:solidFill>
                  <a:srgbClr val="F8FAFC"/>
                </a:solidFill>
              </a:rPr>
              <a:t>Base Image, Segmented Mask, Blended Overlay, and interactive Split-Screen Wipe with adjustable opacity.</a:t>
            </a:r>
          </a:p>
          <a:p>
            <a:pPr>
              <a:spcAft>
                <a:spcPts val="800"/>
              </a:spcAft>
              <a:defRPr sz="1300">
                <a:solidFill>
                  <a:srgbClr val="F8FAFC"/>
                </a:solidFill>
              </a:defRPr>
            </a:pPr>
            <a:r>
              <a:rPr b="1">
                <a:solidFill>
                  <a:srgbClr val="64FFDA"/>
                </a:solidFill>
              </a:rPr>
              <a:t>Sub-Millisecond Profiling: </a:t>
            </a:r>
            <a:r>
              <a:rPr b="0">
                <a:solidFill>
                  <a:srgbClr val="F8FAFC"/>
                </a:solidFill>
              </a:rPr>
              <a:t>Live execution timer with per-stage millisecond breakdown progress bars.</a:t>
            </a:r>
          </a:p>
          <a:p>
            <a:pPr>
              <a:spcAft>
                <a:spcPts val="800"/>
              </a:spcAft>
              <a:defRPr sz="1300">
                <a:solidFill>
                  <a:srgbClr val="F8FAFC"/>
                </a:solidFill>
              </a:defRPr>
            </a:pPr>
            <a:r>
              <a:rPr b="1">
                <a:solidFill>
                  <a:srgbClr val="64FFDA"/>
                </a:solidFill>
              </a:rPr>
              <a:t>Audit &amp; Export Capabilities: </a:t>
            </a:r>
            <a:r>
              <a:rPr b="0">
                <a:solidFill>
                  <a:srgbClr val="F8FAFC"/>
                </a:solidFill>
              </a:rPr>
              <a:t>Direct CSV metric export, JSON audit log generation, and high-resolution mask downloads.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Research Summary, Limitations &amp; Ethical Guardrails</a:t>
            </a:r>
          </a:p>
        </p:txBody>
      </p:sp>
      <p:sp>
        <p:nvSpPr>
          <p:cNvPr id="5" name="Rounded Rectangle 4"/>
          <p:cNvSpPr/>
          <p:nvPr/>
        </p:nvSpPr>
        <p:spPr>
          <a:xfrm>
            <a:off x="731520" y="1463040"/>
            <a:ext cx="32918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2834640" cy="411480"/>
          </a:xfrm>
          <a:prstGeom prst="rect">
            <a:avLst/>
          </a:prstGeom>
          <a:noFill/>
        </p:spPr>
        <p:txBody>
          <a:bodyPr wrap="square">
            <a:spAutoFit/>
          </a:bodyPr>
          <a:lstStyle/>
          <a:p>
            <a:pPr>
              <a:defRPr sz="1200" b="1">
                <a:solidFill>
                  <a:srgbClr val="64FFDA"/>
                </a:solidFill>
              </a:defRPr>
            </a:pPr>
            <a:r>
              <a:t>1. IMPLEMENTED &amp; VERIFIED</a:t>
            </a:r>
          </a:p>
        </p:txBody>
      </p:sp>
      <p:sp>
        <p:nvSpPr>
          <p:cNvPr id="7" name="TextBox 6"/>
          <p:cNvSpPr txBox="1"/>
          <p:nvPr/>
        </p:nvSpPr>
        <p:spPr>
          <a:xfrm>
            <a:off x="914400" y="2103120"/>
            <a:ext cx="29260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Dual DIP Pipelines: </a:t>
            </a:r>
            <a:r>
              <a:rPr b="0">
                <a:solidFill>
                  <a:srgbClr val="F8FAFC"/>
                </a:solidFill>
              </a:rPr>
              <a:t>Fully functional Track A (vessels) and Track B (disc/cup/vCDR).</a:t>
            </a:r>
          </a:p>
          <a:p>
            <a:pPr>
              <a:spcAft>
                <a:spcPts val="800"/>
              </a:spcAft>
              <a:defRPr sz="1300">
                <a:solidFill>
                  <a:srgbClr val="F8FAFC"/>
                </a:solidFill>
              </a:defRPr>
            </a:pPr>
            <a:r>
              <a:rPr b="1">
                <a:solidFill>
                  <a:srgbClr val="64FFDA"/>
                </a:solidFill>
              </a:rPr>
              <a:t>Deterministic Guarantees: </a:t>
            </a:r>
            <a:r>
              <a:rPr b="0">
                <a:solidFill>
                  <a:srgbClr val="F8FAFC"/>
                </a:solidFill>
              </a:rPr>
              <a:t>Cup ⊆ Disc containment guarantee and strict FOV evaluation.</a:t>
            </a:r>
          </a:p>
          <a:p>
            <a:pPr>
              <a:spcAft>
                <a:spcPts val="800"/>
              </a:spcAft>
              <a:defRPr sz="1300">
                <a:solidFill>
                  <a:srgbClr val="F8FAFC"/>
                </a:solidFill>
              </a:defRPr>
            </a:pPr>
            <a:r>
              <a:rPr b="1">
                <a:solidFill>
                  <a:srgbClr val="64FFDA"/>
                </a:solidFill>
              </a:rPr>
              <a:t>CPU Real-Time Speed: </a:t>
            </a:r>
            <a:r>
              <a:rPr b="0">
                <a:solidFill>
                  <a:srgbClr val="F8FAFC"/>
                </a:solidFill>
              </a:rPr>
              <a:t>535 ms average execution latency on commodity hardware.</a:t>
            </a:r>
          </a:p>
          <a:p>
            <a:pPr>
              <a:spcAft>
                <a:spcPts val="800"/>
              </a:spcAft>
              <a:defRPr sz="1300">
                <a:solidFill>
                  <a:srgbClr val="F8FAFC"/>
                </a:solidFill>
              </a:defRPr>
            </a:pPr>
            <a:r>
              <a:rPr b="1">
                <a:solidFill>
                  <a:srgbClr val="64FFDA"/>
                </a:solidFill>
              </a:rPr>
              <a:t>Full Web Workstation: </a:t>
            </a:r>
            <a:r>
              <a:rPr b="0">
                <a:solidFill>
                  <a:srgbClr val="F8FAFC"/>
                </a:solidFill>
              </a:rPr>
              <a:t>React 19 + FastAPI frontend and REST backend with live benchmark exports.</a:t>
            </a:r>
          </a:p>
        </p:txBody>
      </p:sp>
      <p:sp>
        <p:nvSpPr>
          <p:cNvPr id="8" name="Rounded Rectangle 7"/>
          <p:cNvSpPr/>
          <p:nvPr/>
        </p:nvSpPr>
        <p:spPr>
          <a:xfrm>
            <a:off x="4389120" y="1463040"/>
            <a:ext cx="33832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600200"/>
            <a:ext cx="2926080" cy="411480"/>
          </a:xfrm>
          <a:prstGeom prst="rect">
            <a:avLst/>
          </a:prstGeom>
          <a:noFill/>
        </p:spPr>
        <p:txBody>
          <a:bodyPr wrap="square">
            <a:spAutoFit/>
          </a:bodyPr>
          <a:lstStyle/>
          <a:p>
            <a:pPr>
              <a:defRPr sz="1200" b="1">
                <a:solidFill>
                  <a:srgbClr val="64FFDA"/>
                </a:solidFill>
              </a:defRPr>
            </a:pPr>
            <a:r>
              <a:t>2. TECHNICAL BOUNDARIES</a:t>
            </a:r>
          </a:p>
        </p:txBody>
      </p:sp>
      <p:sp>
        <p:nvSpPr>
          <p:cNvPr id="10" name="TextBox 9"/>
          <p:cNvSpPr txBox="1"/>
          <p:nvPr/>
        </p:nvSpPr>
        <p:spPr>
          <a:xfrm>
            <a:off x="4572000" y="2103120"/>
            <a:ext cx="30175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Classical DIP Boundaries: </a:t>
            </a:r>
            <a:r>
              <a:rPr b="0">
                <a:solidFill>
                  <a:srgbClr val="F8FAFC"/>
                </a:solidFill>
              </a:rPr>
              <a:t>Sensitive to severe illumination falloff and optical drusen.</a:t>
            </a:r>
          </a:p>
          <a:p>
            <a:pPr>
              <a:spcAft>
                <a:spcPts val="800"/>
              </a:spcAft>
              <a:defRPr sz="1300">
                <a:solidFill>
                  <a:srgbClr val="F8FAFC"/>
                </a:solidFill>
              </a:defRPr>
            </a:pPr>
            <a:r>
              <a:rPr b="1">
                <a:solidFill>
                  <a:srgbClr val="64FFDA"/>
                </a:solidFill>
              </a:rPr>
              <a:t>2D Cup Depth Ambiguity: </a:t>
            </a:r>
            <a:r>
              <a:rPr b="0">
                <a:solidFill>
                  <a:srgbClr val="F8FAFC"/>
                </a:solidFill>
              </a:rPr>
              <a:t>Classical 2D thresholding detects pale cup floor, not true 3D rim drop-off.</a:t>
            </a:r>
          </a:p>
          <a:p>
            <a:pPr>
              <a:spcAft>
                <a:spcPts val="800"/>
              </a:spcAft>
              <a:defRPr sz="1300">
                <a:solidFill>
                  <a:srgbClr val="F8FAFC"/>
                </a:solidFill>
              </a:defRPr>
            </a:pPr>
            <a:r>
              <a:rPr b="1">
                <a:solidFill>
                  <a:srgbClr val="64FFDA"/>
                </a:solidFill>
              </a:rPr>
              <a:t>Resolution Scaling: </a:t>
            </a:r>
            <a:r>
              <a:rPr b="0">
                <a:solidFill>
                  <a:srgbClr val="F8FAFC"/>
                </a:solidFill>
              </a:rPr>
              <a:t>Images &gt; 2000 px require pyramid downsampling to maintain sub-second CPU speed.</a:t>
            </a:r>
          </a:p>
          <a:p>
            <a:pPr>
              <a:spcAft>
                <a:spcPts val="800"/>
              </a:spcAft>
              <a:defRPr sz="1300">
                <a:solidFill>
                  <a:srgbClr val="F8FAFC"/>
                </a:solidFill>
              </a:defRPr>
            </a:pPr>
            <a:r>
              <a:rPr b="1">
                <a:solidFill>
                  <a:srgbClr val="64FFDA"/>
                </a:solidFill>
              </a:rPr>
              <a:t>Central Light Reflex: </a:t>
            </a:r>
            <a:r>
              <a:rPr b="0">
                <a:solidFill>
                  <a:srgbClr val="F8FAFC"/>
                </a:solidFill>
              </a:rPr>
              <a:t>Arteriole reflex can cause occasional split-vessel artifacts.</a:t>
            </a:r>
          </a:p>
        </p:txBody>
      </p:sp>
      <p:sp>
        <p:nvSpPr>
          <p:cNvPr id="11" name="Rounded Rectangle 10"/>
          <p:cNvSpPr/>
          <p:nvPr/>
        </p:nvSpPr>
        <p:spPr>
          <a:xfrm>
            <a:off x="8138160" y="1463040"/>
            <a:ext cx="32918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600200"/>
            <a:ext cx="2834640" cy="411480"/>
          </a:xfrm>
          <a:prstGeom prst="rect">
            <a:avLst/>
          </a:prstGeom>
          <a:noFill/>
        </p:spPr>
        <p:txBody>
          <a:bodyPr wrap="square">
            <a:spAutoFit/>
          </a:bodyPr>
          <a:lstStyle/>
          <a:p>
            <a:pPr>
              <a:defRPr sz="1200" b="1">
                <a:solidFill>
                  <a:srgbClr val="64FFDA"/>
                </a:solidFill>
              </a:defRPr>
            </a:pPr>
            <a:r>
              <a:t>3. ETHICAL &amp; CLINICAL GUARDRAILS</a:t>
            </a:r>
          </a:p>
        </p:txBody>
      </p:sp>
      <p:sp>
        <p:nvSpPr>
          <p:cNvPr id="13" name="TextBox 12"/>
          <p:cNvSpPr txBox="1"/>
          <p:nvPr/>
        </p:nvSpPr>
        <p:spPr>
          <a:xfrm>
            <a:off x="8321040" y="2103120"/>
            <a:ext cx="29260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Non-Diagnostic Status: </a:t>
            </a:r>
            <a:r>
              <a:rPr b="0">
                <a:solidFill>
                  <a:srgbClr val="F8FAFC"/>
                </a:solidFill>
              </a:rPr>
              <a:t>Strictly an exploratory academic research and screening triage tool.</a:t>
            </a:r>
          </a:p>
          <a:p>
            <a:pPr>
              <a:spcAft>
                <a:spcPts val="800"/>
              </a:spcAft>
              <a:defRPr sz="1300">
                <a:solidFill>
                  <a:srgbClr val="F8FAFC"/>
                </a:solidFill>
              </a:defRPr>
            </a:pPr>
            <a:r>
              <a:rPr b="1">
                <a:solidFill>
                  <a:srgbClr val="64FFDA"/>
                </a:solidFill>
              </a:rPr>
              <a:t>Descriptive Biomarkers: </a:t>
            </a:r>
            <a:r>
              <a:rPr b="0">
                <a:solidFill>
                  <a:srgbClr val="F8FAFC"/>
                </a:solidFill>
              </a:rPr>
              <a:t>Biomarkers labeled as 'Experimental Glaucoma-Related Structural Indicator'.</a:t>
            </a:r>
          </a:p>
          <a:p>
            <a:pPr>
              <a:spcAft>
                <a:spcPts val="800"/>
              </a:spcAft>
              <a:defRPr sz="1300">
                <a:solidFill>
                  <a:srgbClr val="F8FAFC"/>
                </a:solidFill>
              </a:defRPr>
            </a:pPr>
            <a:r>
              <a:rPr b="1">
                <a:solidFill>
                  <a:srgbClr val="64FFDA"/>
                </a:solidFill>
              </a:rPr>
              <a:t>Physician Primacy: </a:t>
            </a:r>
            <a:r>
              <a:rPr b="0">
                <a:solidFill>
                  <a:srgbClr val="F8FAFC"/>
                </a:solidFill>
              </a:rPr>
              <a:t>Final diagnostic decisions require licensed ophthalmologists using stereoscopic fundoscopy &amp; OCT.</a:t>
            </a:r>
          </a:p>
          <a:p>
            <a:pPr>
              <a:spcAft>
                <a:spcPts val="800"/>
              </a:spcAft>
              <a:defRPr sz="1300">
                <a:solidFill>
                  <a:srgbClr val="F8FAFC"/>
                </a:solidFill>
              </a:defRPr>
            </a:pPr>
            <a:r>
              <a:rPr b="1">
                <a:solidFill>
                  <a:srgbClr val="64FFDA"/>
                </a:solidFill>
              </a:rPr>
              <a:t>Zero Hallucination: </a:t>
            </a:r>
            <a:r>
              <a:rPr b="0">
                <a:solidFill>
                  <a:srgbClr val="F8FAFC"/>
                </a:solidFill>
              </a:rPr>
              <a:t>Metrics withheld when ground truth is absent.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CLASSICAL DIP RESEARCH</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Conclusion &amp; Future Research Directions</a:t>
            </a:r>
          </a:p>
        </p:txBody>
      </p:sp>
      <p:sp>
        <p:nvSpPr>
          <p:cNvPr id="5" name="Rounded Rectangle 4"/>
          <p:cNvSpPr/>
          <p:nvPr/>
        </p:nvSpPr>
        <p:spPr>
          <a:xfrm>
            <a:off x="731520" y="1463040"/>
            <a:ext cx="512064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4663440" cy="411480"/>
          </a:xfrm>
          <a:prstGeom prst="rect">
            <a:avLst/>
          </a:prstGeom>
          <a:noFill/>
        </p:spPr>
        <p:txBody>
          <a:bodyPr wrap="square">
            <a:spAutoFit/>
          </a:bodyPr>
          <a:lstStyle/>
          <a:p>
            <a:pPr>
              <a:defRPr sz="1200" b="1">
                <a:solidFill>
                  <a:srgbClr val="64FFDA"/>
                </a:solidFill>
              </a:defRPr>
            </a:pPr>
            <a:r>
              <a:t>KEY PROJECT CONCLUSIONS</a:t>
            </a:r>
          </a:p>
        </p:txBody>
      </p:sp>
      <p:sp>
        <p:nvSpPr>
          <p:cNvPr id="7" name="TextBox 6"/>
          <p:cNvSpPr txBox="1"/>
          <p:nvPr/>
        </p:nvSpPr>
        <p:spPr>
          <a:xfrm>
            <a:off x="914400" y="2103120"/>
            <a:ext cx="475488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Viability of Classical DIP: </a:t>
            </a:r>
            <a:r>
              <a:rPr b="0">
                <a:solidFill>
                  <a:srgbClr val="F8FAFC"/>
                </a:solidFill>
              </a:rPr>
              <a:t>Proved that classical digital image processing remains powerful, deterministic, and clinically interpretable for retinal screening without deep neural networks.</a:t>
            </a:r>
          </a:p>
          <a:p>
            <a:pPr>
              <a:spcAft>
                <a:spcPts val="800"/>
              </a:spcAft>
              <a:defRPr sz="1300">
                <a:solidFill>
                  <a:srgbClr val="F8FAFC"/>
                </a:solidFill>
              </a:defRPr>
            </a:pPr>
            <a:r>
              <a:rPr b="1">
                <a:solidFill>
                  <a:srgbClr val="64FFDA"/>
                </a:solidFill>
              </a:rPr>
              <a:t>Hardware Freedom: </a:t>
            </a:r>
            <a:r>
              <a:rPr b="0">
                <a:solidFill>
                  <a:srgbClr val="F8FAFC"/>
                </a:solidFill>
              </a:rPr>
              <a:t>Demonstrated that sub-second inference (&lt;550 ms) is achievable on low-cost, commodity CPUs without requiring multi-thousand dollar GPUs.</a:t>
            </a:r>
          </a:p>
          <a:p>
            <a:pPr>
              <a:spcAft>
                <a:spcPts val="800"/>
              </a:spcAft>
              <a:defRPr sz="1300">
                <a:solidFill>
                  <a:srgbClr val="F8FAFC"/>
                </a:solidFill>
              </a:defRPr>
            </a:pPr>
            <a:r>
              <a:rPr b="1">
                <a:solidFill>
                  <a:srgbClr val="64FFDA"/>
                </a:solidFill>
              </a:rPr>
              <a:t>Mathematical Transparency: </a:t>
            </a:r>
            <a:r>
              <a:rPr b="0">
                <a:solidFill>
                  <a:srgbClr val="F8FAFC"/>
                </a:solidFill>
              </a:rPr>
              <a:t>Every filter response, gradient calculation, and contour deformation corresponds directly to physical anatomical properties.</a:t>
            </a:r>
          </a:p>
          <a:p>
            <a:pPr>
              <a:spcAft>
                <a:spcPts val="800"/>
              </a:spcAft>
              <a:defRPr sz="1300">
                <a:solidFill>
                  <a:srgbClr val="F8FAFC"/>
                </a:solidFill>
              </a:defRPr>
            </a:pPr>
            <a:r>
              <a:rPr b="1">
                <a:solidFill>
                  <a:srgbClr val="64FFDA"/>
                </a:solidFill>
              </a:rPr>
              <a:t>Complete Working System: </a:t>
            </a:r>
            <a:r>
              <a:rPr b="0">
                <a:solidFill>
                  <a:srgbClr val="F8FAFC"/>
                </a:solidFill>
              </a:rPr>
              <a:t>Delivered a fully integrated, dual-mode research workstation with live empirical benchmarking and audit logging.</a:t>
            </a:r>
          </a:p>
        </p:txBody>
      </p:sp>
      <p:sp>
        <p:nvSpPr>
          <p:cNvPr id="8" name="Rounded Rectangle 7"/>
          <p:cNvSpPr/>
          <p:nvPr/>
        </p:nvSpPr>
        <p:spPr>
          <a:xfrm>
            <a:off x="6217920" y="1463040"/>
            <a:ext cx="52120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600200"/>
            <a:ext cx="4754880" cy="411480"/>
          </a:xfrm>
          <a:prstGeom prst="rect">
            <a:avLst/>
          </a:prstGeom>
          <a:noFill/>
        </p:spPr>
        <p:txBody>
          <a:bodyPr wrap="square">
            <a:spAutoFit/>
          </a:bodyPr>
          <a:lstStyle/>
          <a:p>
            <a:pPr>
              <a:defRPr sz="1200" b="1">
                <a:solidFill>
                  <a:srgbClr val="64FFDA"/>
                </a:solidFill>
              </a:defRPr>
            </a:pPr>
            <a:r>
              <a:t>FUTURE TECHNICAL ROADMAP</a:t>
            </a:r>
          </a:p>
        </p:txBody>
      </p:sp>
      <p:sp>
        <p:nvSpPr>
          <p:cNvPr id="10" name="TextBox 9"/>
          <p:cNvSpPr txBox="1"/>
          <p:nvPr/>
        </p:nvSpPr>
        <p:spPr>
          <a:xfrm>
            <a:off x="6400800" y="2103120"/>
            <a:ext cx="4846320" cy="3931920"/>
          </a:xfrm>
          <a:prstGeom prst="rect">
            <a:avLst/>
          </a:prstGeom>
          <a:noFill/>
        </p:spPr>
        <p:txBody>
          <a:bodyPr wrap="square">
            <a:spAutoFit/>
          </a:bodyPr>
          <a:lstStyle/>
          <a:p>
            <a:pPr>
              <a:spcAft>
                <a:spcPts val="800"/>
              </a:spcAft>
              <a:defRPr sz="1300">
                <a:solidFill>
                  <a:srgbClr val="F8FAFC"/>
                </a:solidFill>
              </a:defRPr>
            </a:pPr>
            <a:r>
              <a:rPr b="1">
                <a:solidFill>
                  <a:srgbClr val="64FFDA"/>
                </a:solidFill>
              </a:rPr>
              <a:t>Multi-Resolution Pyramids: </a:t>
            </a:r>
            <a:r>
              <a:rPr b="0">
                <a:solidFill>
                  <a:srgbClr val="F8FAFC"/>
                </a:solidFill>
              </a:rPr>
              <a:t>Implement Gaussian image pyramids for high-resolution Drishti-GS images to bring Track B execution under 500 ms at full scale.</a:t>
            </a:r>
          </a:p>
          <a:p>
            <a:pPr>
              <a:spcAft>
                <a:spcPts val="800"/>
              </a:spcAft>
              <a:defRPr sz="1300">
                <a:solidFill>
                  <a:srgbClr val="F8FAFC"/>
                </a:solidFill>
              </a:defRPr>
            </a:pPr>
            <a:r>
              <a:rPr b="1">
                <a:solidFill>
                  <a:srgbClr val="64FFDA"/>
                </a:solidFill>
              </a:rPr>
              <a:t>Shape-from-Shading for the Cup: </a:t>
            </a:r>
            <a:r>
              <a:rPr b="0">
                <a:solidFill>
                  <a:srgbClr val="F8FAFC"/>
                </a:solidFill>
              </a:rPr>
              <a:t>Explore 2D photometric shape-from-shading to approximate 3D excavation depth within the optic disc from monocular photographs.</a:t>
            </a:r>
          </a:p>
          <a:p>
            <a:pPr>
              <a:spcAft>
                <a:spcPts val="800"/>
              </a:spcAft>
              <a:defRPr sz="1300">
                <a:solidFill>
                  <a:srgbClr val="F8FAFC"/>
                </a:solidFill>
              </a:defRPr>
            </a:pPr>
            <a:r>
              <a:rPr b="1">
                <a:solidFill>
                  <a:srgbClr val="64FFDA"/>
                </a:solidFill>
              </a:rPr>
              <a:t>Vascular Morphometry: </a:t>
            </a:r>
            <a:r>
              <a:rPr b="0">
                <a:solidFill>
                  <a:srgbClr val="F8FAFC"/>
                </a:solidFill>
              </a:rPr>
              <a:t>Extend Track A to calculate vessel tortuosity indices and bifurcation branching angles for hypertensive retinopathy screening.</a:t>
            </a:r>
          </a:p>
          <a:p>
            <a:pPr>
              <a:spcAft>
                <a:spcPts val="800"/>
              </a:spcAft>
              <a:defRPr sz="1300">
                <a:solidFill>
                  <a:srgbClr val="F8FAFC"/>
                </a:solidFill>
              </a:defRPr>
            </a:pPr>
            <a:r>
              <a:rPr b="1">
                <a:solidFill>
                  <a:srgbClr val="64FFDA"/>
                </a:solidFill>
              </a:rPr>
              <a:t>WebAssembly (WASM) Compilation: </a:t>
            </a:r>
            <a:r>
              <a:rPr b="0">
                <a:solidFill>
                  <a:srgbClr val="F8FAFC"/>
                </a:solidFill>
              </a:rPr>
              <a:t>Compile the C/C++ image processing core to WebAssembly to run 100% offline inside web browsers without any backend server.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4FFDA"/>
                </a:solidFill>
              </a:defRPr>
            </a:pPr>
            <a:r>
              <a:t>OPTIFILTER / MORPHOVISION — SCIENTIFIC CITATIONS</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F8FAFC"/>
                </a:solidFill>
              </a:defRPr>
            </a:pPr>
            <a:r>
              <a:t>Authoritative References &amp; Thank You / Q&amp;A</a:t>
            </a:r>
          </a:p>
        </p:txBody>
      </p:sp>
      <p:sp>
        <p:nvSpPr>
          <p:cNvPr id="5" name="Rounded Rectangle 4"/>
          <p:cNvSpPr/>
          <p:nvPr/>
        </p:nvSpPr>
        <p:spPr>
          <a:xfrm>
            <a:off x="731520" y="1463040"/>
            <a:ext cx="10698480" cy="4754880"/>
          </a:xfrm>
          <a:prstGeom prst="roundRect">
            <a:avLst/>
          </a:prstGeom>
          <a:solidFill>
            <a:srgbClr val="112240"/>
          </a:solidFill>
          <a:ln w="19050">
            <a:solidFill>
              <a:srgbClr val="233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10241280" cy="411480"/>
          </a:xfrm>
          <a:prstGeom prst="rect">
            <a:avLst/>
          </a:prstGeom>
          <a:noFill/>
        </p:spPr>
        <p:txBody>
          <a:bodyPr wrap="square">
            <a:spAutoFit/>
          </a:bodyPr>
          <a:lstStyle/>
          <a:p>
            <a:pPr>
              <a:defRPr sz="1200" b="1">
                <a:solidFill>
                  <a:srgbClr val="64FFDA"/>
                </a:solidFill>
              </a:defRPr>
            </a:pPr>
            <a:r>
              <a:t>PEER-REVIEWED SCIENTIFIC LITERATURE &amp; DATASET CITATIONS</a:t>
            </a:r>
          </a:p>
        </p:txBody>
      </p:sp>
      <p:sp>
        <p:nvSpPr>
          <p:cNvPr id="7" name="TextBox 6"/>
          <p:cNvSpPr txBox="1"/>
          <p:nvPr/>
        </p:nvSpPr>
        <p:spPr>
          <a:xfrm>
            <a:off x="1005840" y="2103120"/>
            <a:ext cx="10149840" cy="3931920"/>
          </a:xfrm>
          <a:prstGeom prst="rect">
            <a:avLst/>
          </a:prstGeom>
          <a:noFill/>
        </p:spPr>
        <p:txBody>
          <a:bodyPr wrap="square">
            <a:spAutoFit/>
          </a:bodyPr>
          <a:lstStyle/>
          <a:p>
            <a:pPr>
              <a:spcAft>
                <a:spcPts val="800"/>
              </a:spcAft>
              <a:defRPr sz="1200">
                <a:solidFill>
                  <a:srgbClr val="F8FAFC"/>
                </a:solidFill>
              </a:defRPr>
            </a:pPr>
            <a:r>
              <a:rPr b="1">
                <a:solidFill>
                  <a:srgbClr val="64FFDA"/>
                </a:solidFill>
              </a:rPr>
              <a:t>1. Frangi Vesselness Filtering: </a:t>
            </a:r>
            <a:r>
              <a:rPr b="0">
                <a:solidFill>
                  <a:srgbClr val="F8FAFC"/>
                </a:solidFill>
              </a:rPr>
              <a:t>Frangi, A. F., Niessen, W. J., Vincken, K. L., &amp; Viergever, M. A. (1998). Multiscale vessel enhancement filtering. In Medical Image Computing and Computer-Assisted Intervention (MICCAI), LNCS 1496, pp. 130–137.</a:t>
            </a:r>
          </a:p>
          <a:p>
            <a:pPr>
              <a:spcAft>
                <a:spcPts val="800"/>
              </a:spcAft>
              <a:defRPr sz="1200">
                <a:solidFill>
                  <a:srgbClr val="F8FAFC"/>
                </a:solidFill>
              </a:defRPr>
            </a:pPr>
            <a:r>
              <a:rPr b="1">
                <a:solidFill>
                  <a:srgbClr val="64FFDA"/>
                </a:solidFill>
              </a:rPr>
              <a:t>2. Active Contour Models (Snakes): </a:t>
            </a:r>
            <a:r>
              <a:rPr b="0">
                <a:solidFill>
                  <a:srgbClr val="F8FAFC"/>
                </a:solidFill>
              </a:rPr>
              <a:t>Kass, M., Witkin, A., &amp; Terzopoulos, D. (1988). Snakes: Active contour models. International Journal of Computer Vision (IJCV), 1(4), pp. 321–331.</a:t>
            </a:r>
          </a:p>
          <a:p>
            <a:pPr>
              <a:spcAft>
                <a:spcPts val="800"/>
              </a:spcAft>
              <a:defRPr sz="1200">
                <a:solidFill>
                  <a:srgbClr val="F8FAFC"/>
                </a:solidFill>
              </a:defRPr>
            </a:pPr>
            <a:r>
              <a:rPr b="1">
                <a:solidFill>
                  <a:srgbClr val="64FFDA"/>
                </a:solidFill>
              </a:rPr>
              <a:t>3. DRIVE Benchmark Dataset: </a:t>
            </a:r>
            <a:r>
              <a:rPr b="0">
                <a:solidFill>
                  <a:srgbClr val="F8FAFC"/>
                </a:solidFill>
              </a:rPr>
              <a:t>Staal, J., Abràmoff, M. D., Niemeijer, M., Viergever, M. A., &amp; van Ginneken, B. (2004). Ridge-based vessel segmentation in color images of the retina. IEEE Transactions on Medical Imaging (TMI), 23(4), pp. 501–509.</a:t>
            </a:r>
          </a:p>
          <a:p>
            <a:pPr>
              <a:spcAft>
                <a:spcPts val="800"/>
              </a:spcAft>
              <a:defRPr sz="1200">
                <a:solidFill>
                  <a:srgbClr val="F8FAFC"/>
                </a:solidFill>
              </a:defRPr>
            </a:pPr>
            <a:r>
              <a:rPr b="1">
                <a:solidFill>
                  <a:srgbClr val="64FFDA"/>
                </a:solidFill>
              </a:rPr>
              <a:t>4. Drishti-GS Glaucoma Dataset: </a:t>
            </a:r>
            <a:r>
              <a:rPr b="0">
                <a:solidFill>
                  <a:srgbClr val="F8FAFC"/>
                </a:solidFill>
              </a:rPr>
              <a:t>Sivaswamy, J., Krishnadas, S. R., Chakravarty, A., Joshi, G., Tabish, A. S., &amp; Rani, P. K. (2014). A comprehensive retinal dataset for glaucoma assessment (Drishti-GS). In IEEE International Symposium on Biomedical Imaging (ISBI), pp. 231–234.</a:t>
            </a:r>
          </a:p>
          <a:p>
            <a:pPr>
              <a:spcAft>
                <a:spcPts val="800"/>
              </a:spcAft>
              <a:defRPr sz="1200">
                <a:solidFill>
                  <a:srgbClr val="F8FAFC"/>
                </a:solidFill>
              </a:defRPr>
            </a:pPr>
            <a:r>
              <a:rPr b="1">
                <a:solidFill>
                  <a:srgbClr val="64FFDA"/>
                </a:solidFill>
              </a:rPr>
              <a:t>5. CLAHE Equalization: </a:t>
            </a:r>
            <a:r>
              <a:rPr b="0">
                <a:solidFill>
                  <a:srgbClr val="F8FAFC"/>
                </a:solidFill>
              </a:rPr>
              <a:t>Zuiderveld, K. (1994). Contrast limited adaptive histogram equalization. In Graphics Gems IV, Academic Press, pp. 474–485.</a:t>
            </a:r>
          </a:p>
          <a:p>
            <a:pPr>
              <a:spcAft>
                <a:spcPts val="800"/>
              </a:spcAft>
              <a:defRPr sz="1200">
                <a:solidFill>
                  <a:srgbClr val="F8FAFC"/>
                </a:solidFill>
              </a:defRPr>
            </a:pPr>
            <a:r>
              <a:rPr b="1">
                <a:solidFill>
                  <a:srgbClr val="64FFDA"/>
                </a:solidFill>
              </a:rPr>
              <a:t>6. Otsu Optimal Thresholding: </a:t>
            </a:r>
            <a:r>
              <a:rPr b="0">
                <a:solidFill>
                  <a:srgbClr val="F8FAFC"/>
                </a:solidFill>
              </a:rPr>
              <a:t>Otsu, N. (1979). A threshold selection method from gray-level histograms. IEEE Transactions on Systems, Man, and Cybernetics, 9(1), pp. 62–66.</a:t>
            </a:r>
          </a:p>
          <a:p>
            <a:pPr>
              <a:spcAft>
                <a:spcPts val="800"/>
              </a:spcAft>
              <a:defRPr sz="1200">
                <a:solidFill>
                  <a:srgbClr val="F8FAFC"/>
                </a:solidFill>
              </a:defRPr>
            </a:pPr>
            <a:r>
              <a:rPr b="1">
                <a:solidFill>
                  <a:srgbClr val="64FFDA"/>
                </a:solidFill>
              </a:rPr>
              <a:t>Thank You for Your Time &amp; Guidance: </a:t>
            </a:r>
            <a:r>
              <a:rPr b="0">
                <a:solidFill>
                  <a:srgbClr val="F8FAFC"/>
                </a:solidFill>
              </a:rPr>
              <a:t>I am now prepared to answer any technical, mathematical, or implementation questions from the examination committee.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